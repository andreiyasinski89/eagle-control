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 первого входа до ритма: список, воронка, план дня, команда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07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680960" y="-2011680"/>
            <a:ext cx="6858000" cy="68580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754880"/>
            <a:ext cx="3840480" cy="3840480"/>
          </a:xfrm>
          <a:prstGeom prst="ellipse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2743200"/>
            <a:ext cx="86868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6600" b="1">
                <a:solidFill>
                  <a:srgbClr val="FFFFFF"/>
                </a:solidFill>
                <a:latin typeface="Arial"/>
              </a:rPr>
              <a:t>MeetOwl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0">
                <a:solidFill>
                  <a:srgbClr val="FFFFFF"/>
                </a:solidFill>
                <a:latin typeface="Arial"/>
              </a:rPr>
              <a:t>Как вести дело с людьми каждый день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C4B5FD"/>
                </a:solidFill>
                <a:latin typeface="Arial"/>
              </a:rPr>
              <a:t>От первого входа до ритма: список, воронка, план дня, команда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Весь путь на одной странице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37360"/>
            <a:ext cx="2423160" cy="2926080"/>
          </a:xfrm>
          <a:prstGeom prst="roundRect">
            <a:avLst>
              <a:gd name="adj" fmla="val 6792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196596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>
                <a:solidFill>
                  <a:srgbClr val="3B0764"/>
                </a:solidFill>
                <a:latin typeface="Arial"/>
              </a:rPr>
              <a:t>Список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Выпишите всех, кого знаете. Цель — 100 имён.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39" y="2926080"/>
            <a:ext cx="411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>
                <a:solidFill>
                  <a:srgbClr val="7C3AED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37360"/>
            <a:ext cx="2423160" cy="2926080"/>
          </a:xfrm>
          <a:prstGeom prst="roundRect">
            <a:avLst>
              <a:gd name="adj" fmla="val 6792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49039" y="196596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19659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651760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>
                <a:solidFill>
                  <a:srgbClr val="3B0764"/>
                </a:solidFill>
                <a:latin typeface="Arial"/>
              </a:rPr>
              <a:t>Воронка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29184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Двигайте людей от нового лида к клиенту или партнёру.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79" y="2926080"/>
            <a:ext cx="411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>
                <a:solidFill>
                  <a:srgbClr val="7C3AED"/>
                </a:solidFill>
                <a:latin typeface="Arial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737360"/>
            <a:ext cx="2423160" cy="2926080"/>
          </a:xfrm>
          <a:prstGeom prst="roundRect">
            <a:avLst>
              <a:gd name="adj" fmla="val 6792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83680" y="196596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9659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51760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>
                <a:solidFill>
                  <a:srgbClr val="3B0764"/>
                </a:solidFill>
                <a:latin typeface="Arial"/>
              </a:rPr>
              <a:t>План дня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29184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Каждое утро: кому и что сделать сегодня.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2926080"/>
            <a:ext cx="411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>
                <a:solidFill>
                  <a:srgbClr val="7C3AED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737360"/>
            <a:ext cx="2423160" cy="2926080"/>
          </a:xfrm>
          <a:prstGeom prst="roundRect">
            <a:avLst>
              <a:gd name="adj" fmla="val 6792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0" y="196596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0" y="19659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2651760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>
                <a:solidFill>
                  <a:srgbClr val="3B0764"/>
                </a:solidFill>
                <a:latin typeface="Arial"/>
              </a:rPr>
              <a:t>Команда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329184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Партнёры, спонсоры, передача людей и карта сети.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120640"/>
            <a:ext cx="10911535" cy="914400"/>
          </a:xfrm>
          <a:prstGeom prst="roundRect">
            <a:avLst>
              <a:gd name="adj" fmla="val 18000"/>
            </a:avLst>
          </a:prstGeom>
          <a:solidFill>
            <a:srgbClr val="3B07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120640"/>
            <a:ext cx="1018001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Результат даёт не героический день, а повторяющийся ритм.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Первые 10 минут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3429000" cy="1965960"/>
          </a:xfrm>
          <a:prstGeom prst="roundRect">
            <a:avLst>
              <a:gd name="adj" fmla="val 8372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" y="1901952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9019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90195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Часы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60320"/>
            <a:ext cx="291693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Укажите часовой пояс в настройках.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645920"/>
            <a:ext cx="3429000" cy="1965960"/>
          </a:xfrm>
          <a:prstGeom prst="roundRect">
            <a:avLst>
              <a:gd name="adj" fmla="val 8372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26864" y="1901952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6864" y="19019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9512" y="190195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Мечта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2560320"/>
            <a:ext cx="291693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Запишите мечту, дату и цели по клиентам и партнёрам.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645920"/>
            <a:ext cx="3429000" cy="1965960"/>
          </a:xfrm>
          <a:prstGeom prst="roundRect">
            <a:avLst>
              <a:gd name="adj" fmla="val 8372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57615" y="1901952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7615" y="19019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0263" y="190195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Люди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5" y="2560320"/>
            <a:ext cx="291693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Вставьте имена списком: «Добавить список».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931920"/>
            <a:ext cx="3429000" cy="1965960"/>
          </a:xfrm>
          <a:prstGeom prst="roundRect">
            <a:avLst>
              <a:gd name="adj" fmla="val 8372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6112" y="4187952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1879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18795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Шаги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4846320"/>
            <a:ext cx="291693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У каждого человека: следующий шаг и дата.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70832" y="3931920"/>
            <a:ext cx="3429000" cy="1965960"/>
          </a:xfrm>
          <a:prstGeom prst="roundRect">
            <a:avLst>
              <a:gd name="adj" fmla="val 8372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26864" y="4187952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26864" y="41879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9512" y="418795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Скрипт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4846320"/>
            <a:ext cx="291693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Сохраните текст, который отправляете чаще всего.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1583" y="3931920"/>
            <a:ext cx="3429000" cy="1965960"/>
          </a:xfrm>
          <a:prstGeom prst="roundRect">
            <a:avLst>
              <a:gd name="adj" fmla="val 8372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357615" y="4187952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57615" y="41879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70263" y="418795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План дня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5" y="4846320"/>
            <a:ext cx="291693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Идите по списку «К действию сегодня».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Как устроено приложение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00200"/>
            <a:ext cx="3566160" cy="3154680"/>
          </a:xfrm>
          <a:prstGeom prst="roundRect">
            <a:avLst>
              <a:gd name="adj" fmla="val 5217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94560"/>
            <a:ext cx="310896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Мой день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Старт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Мои задачи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Проекты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Календарь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Время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Заметки и ссылки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База знаний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600200"/>
            <a:ext cx="4572000" cy="3154680"/>
          </a:xfrm>
          <a:prstGeom prst="roundRect">
            <a:avLst>
              <a:gd name="adj" fmla="val 5217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09160" y="169164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Клиенты: CRM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60" y="2194560"/>
            <a:ext cx="411480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План дня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Люди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Команда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Активность команды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Карта сети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Сделки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Компании, контакты, дела</a:t>
            </a:r>
          </a:p>
          <a:p>
            <a:pPr algn="l">
              <a:lnSpc>
                <a:spcPct val="118000"/>
              </a:lnSpc>
              <a:spcBef>
                <a:spcPts val="288"/>
              </a:spcBef>
            </a:pPr>
            <a:r>
              <a:rPr sz="1800" b="0">
                <a:solidFill>
                  <a:srgbClr val="1F1B2E"/>
                </a:solidFill>
                <a:latin typeface="Arial"/>
              </a:rPr>
              <a:t>Скрипты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1600200"/>
            <a:ext cx="2130552" cy="3154680"/>
          </a:xfrm>
          <a:prstGeom prst="roundRect">
            <a:avLst>
              <a:gd name="adj" fmla="val 7725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1691640"/>
            <a:ext cx="16733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Аналитика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5480" y="2194560"/>
            <a:ext cx="1673352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Отчёты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983480"/>
            <a:ext cx="10911535" cy="1280160"/>
          </a:xfrm>
          <a:prstGeom prst="roundRect">
            <a:avLst>
              <a:gd name="adj" fmla="val 12857"/>
            </a:avLst>
          </a:prstGeom>
          <a:solidFill>
            <a:srgbClr val="3B07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983480"/>
            <a:ext cx="10180015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FFFFFF"/>
                </a:solidFill>
                <a:latin typeface="Arial"/>
              </a:rPr>
              <a:t>Ctrl+K: поиск и быстрый переход</a:t>
            </a:r>
          </a:p>
          <a:p>
            <a:pPr algn="l" marL="177800" indent="-177800">
              <a:lnSpc>
                <a:spcPct val="118000"/>
              </a:lnSpc>
              <a:spcBef>
                <a:spcPts val="432"/>
              </a:spcBef>
              <a:buChar char="•"/>
            </a:pPr>
            <a:r>
              <a:rPr sz="1800" b="0">
                <a:solidFill>
                  <a:srgbClr val="FFFFFF"/>
                </a:solidFill>
                <a:latin typeface="Arial"/>
              </a:rPr>
              <a:t>«Старт» вверху справа: таймер на любой странице</a:t>
            </a:r>
          </a:p>
          <a:p>
            <a:pPr algn="l" marL="177800" indent="-177800">
              <a:lnSpc>
                <a:spcPct val="118000"/>
              </a:lnSpc>
              <a:spcBef>
                <a:spcPts val="432"/>
              </a:spcBef>
              <a:buChar char="•"/>
            </a:pPr>
            <a:r>
              <a:rPr sz="1800" b="0">
                <a:solidFill>
                  <a:srgbClr val="FFFFFF"/>
                </a:solidFill>
                <a:latin typeface="Arial"/>
              </a:rPr>
              <a:t>Колокольчик: уведомления, вход по ссылке из письма, аккаунт внизу слева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Мой день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3454298" cy="13716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290565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7C3AED"/>
                </a:solidFill>
                <a:latin typeface="Arial"/>
              </a:rPr>
              <a:t>Задач к выполнению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9056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F1B2E"/>
                </a:solidFill>
                <a:latin typeface="Arial"/>
              </a:rPr>
              <a:t>задачи, дела CRM и люди с шагом на сегодня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68698" y="1645920"/>
            <a:ext cx="3454298" cy="13716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43018" y="1737360"/>
            <a:ext cx="290565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7C3AED"/>
                </a:solidFill>
                <a:latin typeface="Arial"/>
              </a:rPr>
              <a:t>Встреч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43018" y="2286000"/>
            <a:ext cx="29056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F1B2E"/>
                </a:solidFill>
                <a:latin typeface="Arial"/>
              </a:rPr>
              <a:t>события и звонки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7316" y="1645920"/>
            <a:ext cx="3454298" cy="13716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71636" y="1737360"/>
            <a:ext cx="290565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7C3AED"/>
                </a:solidFill>
                <a:latin typeface="Arial"/>
              </a:rPr>
              <a:t>Требуют внимания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71636" y="2286000"/>
            <a:ext cx="29056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F1B2E"/>
                </a:solidFill>
                <a:latin typeface="Arial"/>
              </a:rPr>
              <a:t>зависшие сделки, давно без общения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291840"/>
            <a:ext cx="5272887" cy="2926080"/>
          </a:xfrm>
          <a:prstGeom prst="roundRect">
            <a:avLst>
              <a:gd name="adj" fmla="val 5624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19" y="3383280"/>
            <a:ext cx="463280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Контакты на сегодня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19" y="4023360"/>
            <a:ext cx="4632807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Люди, у которых шаг сегодня или просрочен.</a:t>
            </a:r>
          </a:p>
          <a:p>
            <a:pPr algn="l" marL="177800" indent="-177800">
              <a:lnSpc>
                <a:spcPct val="118000"/>
              </a:lnSpc>
              <a:spcBef>
                <a:spcPts val="720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Красная цифра: просроченные.</a:t>
            </a:r>
          </a:p>
          <a:p>
            <a:pPr algn="l" marL="177800" indent="-177800">
              <a:lnSpc>
                <a:spcPct val="118000"/>
              </a:lnSpc>
              <a:spcBef>
                <a:spcPts val="720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Имя ведёт в карточку, галочка закрывает шаг.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7" y="3291840"/>
            <a:ext cx="5272887" cy="2926080"/>
          </a:xfrm>
          <a:prstGeom prst="roundRect">
            <a:avLst>
              <a:gd name="adj" fmla="val 5624"/>
            </a:avLst>
          </a:prstGeom>
          <a:solidFill>
            <a:srgbClr val="3B0764"/>
          </a:solidFill>
          <a:ln w="9525">
            <a:solidFill>
              <a:srgbClr val="3B07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3383280"/>
            <a:ext cx="463280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План и факт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4023360"/>
            <a:ext cx="4632807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C4B5FD"/>
                </a:solidFill>
                <a:latin typeface="Arial"/>
              </a:rPr>
              <a:t>Задачи, встречи и звонки.</a:t>
            </a:r>
          </a:p>
          <a:p>
            <a:pPr algn="l" marL="177800" indent="-177800">
              <a:lnSpc>
                <a:spcPct val="118000"/>
              </a:lnSpc>
              <a:spcBef>
                <a:spcPts val="720"/>
              </a:spcBef>
              <a:buChar char="•"/>
            </a:pPr>
            <a:r>
              <a:rPr sz="1800" b="0">
                <a:solidFill>
                  <a:srgbClr val="C4B5FD"/>
                </a:solidFill>
                <a:latin typeface="Arial"/>
              </a:rPr>
              <a:t>Контакты и дела CRM: звонки, письма, сообщения.</a:t>
            </a:r>
          </a:p>
          <a:p>
            <a:pPr algn="l" marL="177800" indent="-177800">
              <a:lnSpc>
                <a:spcPct val="118000"/>
              </a:lnSpc>
              <a:spcBef>
                <a:spcPts val="720"/>
              </a:spcBef>
              <a:buChar char="•"/>
            </a:pPr>
            <a:r>
              <a:rPr sz="1800" b="0">
                <a:solidFill>
                  <a:srgbClr val="C4B5FD"/>
                </a:solidFill>
                <a:latin typeface="Arial"/>
              </a:rPr>
              <a:t>Эффективность и продуктивность дня.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Воронка: девять стадий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91640"/>
            <a:ext cx="1627632" cy="1371600"/>
          </a:xfrm>
          <a:prstGeom prst="roundRect">
            <a:avLst>
              <a:gd name="adj" fmla="val 9333"/>
            </a:avLst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19" y="1691640"/>
            <a:ext cx="144475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1">
                <a:solidFill>
                  <a:srgbClr val="3B0764"/>
                </a:solidFill>
                <a:latin typeface="Arial"/>
              </a:rPr>
              <a:t>Новый лид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50591" y="1691640"/>
            <a:ext cx="1627632" cy="1371600"/>
          </a:xfrm>
          <a:prstGeom prst="roundRect">
            <a:avLst>
              <a:gd name="adj" fmla="val 9333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42032" y="1691640"/>
            <a:ext cx="144475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1">
                <a:solidFill>
                  <a:srgbClr val="3B0764"/>
                </a:solidFill>
                <a:latin typeface="Arial"/>
              </a:rPr>
              <a:t>Первый контакт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1104" y="1691640"/>
            <a:ext cx="1627632" cy="1371600"/>
          </a:xfrm>
          <a:prstGeom prst="roundRect">
            <a:avLst>
              <a:gd name="adj" fmla="val 9333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52544" y="1691640"/>
            <a:ext cx="144475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Прогрев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71616" y="1691640"/>
            <a:ext cx="1627632" cy="1371600"/>
          </a:xfrm>
          <a:prstGeom prst="roundRect">
            <a:avLst>
              <a:gd name="adj" fmla="val 9333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63055" y="1691640"/>
            <a:ext cx="144475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Презентация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1691640"/>
            <a:ext cx="1627632" cy="1371600"/>
          </a:xfrm>
          <a:prstGeom prst="roundRect">
            <a:avLst>
              <a:gd name="adj" fmla="val 9333"/>
            </a:avLst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7" y="1691640"/>
            <a:ext cx="144475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Принимает решение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92640" y="1691640"/>
            <a:ext cx="1627632" cy="1371600"/>
          </a:xfrm>
          <a:prstGeom prst="roundRect">
            <a:avLst>
              <a:gd name="adj" fmla="val 9333"/>
            </a:avLst>
          </a:prstGeom>
          <a:solidFill>
            <a:srgbClr val="3B07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0" y="1691640"/>
            <a:ext cx="144475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Клиент / Партнёр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37560"/>
            <a:ext cx="10911535" cy="685800"/>
          </a:xfrm>
          <a:prstGeom prst="roundRect">
            <a:avLst>
              <a:gd name="adj" fmla="val 2400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37560"/>
            <a:ext cx="1036289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B6580"/>
                </a:solidFill>
                <a:latin typeface="Arial"/>
              </a:rPr>
              <a:t>Отказ · Не отвечает  —  Скрытая колонка сбоку. При отказе приложение спросит причину: семь вариантов, итог в отчёте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43400"/>
            <a:ext cx="3454298" cy="1783080"/>
          </a:xfrm>
          <a:prstGeom prst="roundRect">
            <a:avLst>
              <a:gd name="adj" fmla="val 923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8056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Теплота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83480"/>
            <a:ext cx="299709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Горячий, тёплый, холодный.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68698" y="4343400"/>
            <a:ext cx="3454298" cy="1783080"/>
          </a:xfrm>
          <a:prstGeom prst="roundRect">
            <a:avLst>
              <a:gd name="adj" fmla="val 923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7298" y="448056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Приоритет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7298" y="4983480"/>
            <a:ext cx="299709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Что важнее человеку: путешествия или бизнес.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7316" y="4343400"/>
            <a:ext cx="3454298" cy="1783080"/>
          </a:xfrm>
          <a:prstGeom prst="roundRect">
            <a:avLst>
              <a:gd name="adj" fmla="val 923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5916" y="448056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Следующий шаг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5916" y="4983480"/>
            <a:ext cx="299709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У каждого, с датой: так человек попадёт в план дня.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Список 100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645920"/>
            <a:ext cx="3291840" cy="32918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291840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8000" b="1">
                <a:solidFill>
                  <a:srgbClr val="FFFFFF"/>
                </a:solidFill>
                <a:latin typeface="Arial"/>
              </a:rPr>
              <a:t>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2120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Выпишите всех, кого знаете, без фильтрации. Сортировка потом. Для старта хватит 25 имён.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645920"/>
            <a:ext cx="5699455" cy="365760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0" y="1783080"/>
            <a:ext cx="505937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Вставьте по одному в строке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514600"/>
            <a:ext cx="5059375" cy="59436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2514600"/>
            <a:ext cx="469361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Анна Ковальска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291840"/>
            <a:ext cx="5059375" cy="59436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3291840"/>
            <a:ext cx="469361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Егор Потапов — познакомились на конференции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069080"/>
            <a:ext cx="5059375" cy="59436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069080"/>
            <a:ext cx="469361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Катя; @kate; +48 600 111 222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5486400"/>
            <a:ext cx="56994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B6580"/>
                </a:solidFill>
                <a:latin typeface="Arial"/>
              </a:rPr>
              <a:t>Одинаковые имена не задвоятся: приложение их пропустит.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Скрипты и автопланы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5272887" cy="4480560"/>
          </a:xfrm>
          <a:prstGeom prst="roundRect">
            <a:avLst>
              <a:gd name="adj" fmla="val 3673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19" y="1874519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19" y="187451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74519"/>
            <a:ext cx="399272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3B0764"/>
                </a:solidFill>
                <a:latin typeface="Arial"/>
              </a:rPr>
              <a:t>Скрипты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97480"/>
            <a:ext cx="4541367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Готовый текст на каждый момент: первое сообщение, приглашение, повторное касание.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Имена подставляются сами: {name}, {full_name}, {my_name}.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Кнопка «Копировать» в карточке и в плане дня.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«Добавить готовые скрипты»: 18 текстов на каждый этап.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645920"/>
            <a:ext cx="5272887" cy="4480560"/>
          </a:xfrm>
          <a:prstGeom prst="roundRect">
            <a:avLst>
              <a:gd name="adj" fmla="val 3673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98767" y="1874519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187451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84567" y="1874519"/>
            <a:ext cx="399272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3B0764"/>
                </a:solidFill>
                <a:latin typeface="Arial"/>
              </a:rPr>
              <a:t>Автопланы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2697480"/>
            <a:ext cx="4541367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Для стадии один раз задаёте следующий шаг и через сколько дней.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Человек перешёл на стадию, и шаг с датой заполнились сами.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Ваш собственный шаг при переходе автоплан не перезапишет.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План дня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5166360" cy="4480560"/>
          </a:xfrm>
          <a:prstGeom prst="roundRect">
            <a:avLst>
              <a:gd name="adj" fmla="val 3673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19" y="1783080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7C3AED"/>
                </a:solidFill>
                <a:latin typeface="Arial"/>
              </a:rPr>
              <a:t>Неделя против целей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19" y="246888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468880"/>
            <a:ext cx="197510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F1B2E"/>
                </a:solidFill>
                <a:latin typeface="Arial"/>
              </a:rPr>
              <a:t>Добавлено в список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39" y="246888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01568" y="2468880"/>
            <a:ext cx="197510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F1B2E"/>
                </a:solidFill>
                <a:latin typeface="Arial"/>
              </a:rPr>
              <a:t>Выходов на контакт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19" y="338328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3383280"/>
            <a:ext cx="197510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F1B2E"/>
                </a:solidFill>
                <a:latin typeface="Arial"/>
              </a:rPr>
              <a:t>Презентации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39" y="338328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568" y="3383280"/>
            <a:ext cx="197510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F1B2E"/>
                </a:solidFill>
                <a:latin typeface="Arial"/>
              </a:rPr>
              <a:t>Клиенты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19" y="429768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4297680"/>
            <a:ext cx="197510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F1B2E"/>
                </a:solidFill>
                <a:latin typeface="Arial"/>
              </a:rPr>
              <a:t>Партнёры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39" y="429768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01568" y="4297680"/>
            <a:ext cx="197510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F1B2E"/>
                </a:solidFill>
                <a:latin typeface="Arial"/>
              </a:rPr>
              <a:t>Звонки и встречи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19" y="5303520"/>
            <a:ext cx="4526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B6580"/>
                </a:solidFill>
                <a:latin typeface="Arial"/>
              </a:rPr>
              <a:t>Считаются сами, по вашим часам.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45920"/>
            <a:ext cx="5379415" cy="4480560"/>
          </a:xfrm>
          <a:prstGeom prst="roundRect">
            <a:avLst>
              <a:gd name="adj" fmla="val 3673"/>
            </a:avLst>
          </a:prstGeom>
          <a:solidFill>
            <a:srgbClr val="3B0764"/>
          </a:solidFill>
          <a:ln w="9525">
            <a:solidFill>
              <a:srgbClr val="3B07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73933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К действию сегодня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2514600"/>
            <a:ext cx="1828800" cy="594360"/>
          </a:xfrm>
          <a:prstGeom prst="roundRect">
            <a:avLst>
              <a:gd name="adj" fmla="val 1846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51460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Сделано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58200" y="2514600"/>
            <a:ext cx="1828800" cy="594360"/>
          </a:xfrm>
          <a:prstGeom prst="roundRect">
            <a:avLst>
              <a:gd name="adj" fmla="val 18461"/>
            </a:avLst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251460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Дальше через 1 дн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3291840"/>
            <a:ext cx="1097280" cy="594360"/>
          </a:xfrm>
          <a:prstGeom prst="roundRect">
            <a:avLst>
              <a:gd name="adj" fmla="val 18461"/>
            </a:avLst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40"/>
            <a:ext cx="10972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3 дн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26680" y="3291840"/>
            <a:ext cx="1097280" cy="594360"/>
          </a:xfrm>
          <a:prstGeom prst="roundRect">
            <a:avLst>
              <a:gd name="adj" fmla="val 18461"/>
            </a:avLst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80" y="3291840"/>
            <a:ext cx="10972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7 дн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20" y="3291840"/>
            <a:ext cx="1097280" cy="594360"/>
          </a:xfrm>
          <a:prstGeom prst="roundRect">
            <a:avLst>
              <a:gd name="adj" fmla="val 18461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0" y="3291840"/>
            <a:ext cx="10972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3B0764"/>
                </a:solidFill>
                <a:latin typeface="Arial"/>
              </a:rPr>
              <a:t>Скрипт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297680"/>
            <a:ext cx="473933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C4B5FD"/>
                </a:solidFill>
                <a:latin typeface="Arial"/>
              </a:rPr>
              <a:t>Закрытый шаг записывается в ленту человека. Нужна новая дата? Нажмите «Дальше через…».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Группы и подгруппы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37360"/>
            <a:ext cx="3566160" cy="822960"/>
          </a:xfrm>
          <a:prstGeom prst="roundRect">
            <a:avLst>
              <a:gd name="adj" fmla="val 15555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73736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Холодный рынок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788920"/>
            <a:ext cx="3566160" cy="822960"/>
          </a:xfrm>
          <a:prstGeom prst="roundRect">
            <a:avLst>
              <a:gd name="adj" fmla="val 15555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39" y="27889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Спортзал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20239" y="3840479"/>
            <a:ext cx="3566160" cy="822960"/>
          </a:xfrm>
          <a:prstGeom prst="roundRect">
            <a:avLst>
              <a:gd name="adj" fmla="val 15555"/>
            </a:avLst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3840479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3B0764"/>
                </a:solidFill>
                <a:latin typeface="Arial"/>
              </a:rPr>
              <a:t>Утренний класс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20640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6B6580"/>
                </a:solidFill>
                <a:latin typeface="Arial"/>
              </a:rPr>
              <a:t>1  ›  2  › 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645920"/>
            <a:ext cx="5608015" cy="4480560"/>
          </a:xfrm>
          <a:prstGeom prst="roundRect">
            <a:avLst>
              <a:gd name="adj" fmla="val 3673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874519"/>
            <a:ext cx="4876495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До трёх уровней вложенности.</a:t>
            </a:r>
          </a:p>
          <a:p>
            <a:pPr algn="l" marL="177800" indent="-177800">
              <a:lnSpc>
                <a:spcPct val="118000"/>
              </a:lnSpc>
              <a:spcBef>
                <a:spcPts val="1080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Человек состоит в одной группе.</a:t>
            </a:r>
          </a:p>
          <a:p>
            <a:pPr algn="l" marL="177800" indent="-177800">
              <a:lnSpc>
                <a:spcPct val="118000"/>
              </a:lnSpc>
              <a:spcBef>
                <a:spcPts val="1080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Выбор группы показывает людей вместе с подгруппами.</a:t>
            </a:r>
          </a:p>
          <a:p>
            <a:pPr algn="l" marL="177800" indent="-177800">
              <a:lnSpc>
                <a:spcPct val="118000"/>
              </a:lnSpc>
              <a:spcBef>
                <a:spcPts val="1080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Удаление группы никого не удаляет.</a:t>
            </a:r>
          </a:p>
          <a:p>
            <a:pPr algn="l" marL="177800" indent="-177800">
              <a:lnSpc>
                <a:spcPct val="118000"/>
              </a:lnSpc>
              <a:spcBef>
                <a:spcPts val="1080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Массово: галочки на карточках → «Перенести в группу».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Партнёры и команда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20239" y="1691640"/>
            <a:ext cx="2011680" cy="731520"/>
          </a:xfrm>
          <a:prstGeom prst="roundRect">
            <a:avLst>
              <a:gd name="adj" fmla="val 17500"/>
            </a:avLst>
          </a:prstGeom>
          <a:solidFill>
            <a:srgbClr val="3B07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20239" y="169164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Вы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39" y="2880360"/>
            <a:ext cx="2011680" cy="731520"/>
          </a:xfrm>
          <a:prstGeom prst="roundRect">
            <a:avLst>
              <a:gd name="adj" fmla="val 175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20239" y="288036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Партнёр 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069080"/>
            <a:ext cx="2011680" cy="731520"/>
          </a:xfrm>
          <a:prstGeom prst="roundRect">
            <a:avLst>
              <a:gd name="adj" fmla="val 175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06908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Партнёр 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4069080"/>
            <a:ext cx="2011680" cy="731520"/>
          </a:xfrm>
          <a:prstGeom prst="roundRect">
            <a:avLst>
              <a:gd name="adj" fmla="val 17500"/>
            </a:avLst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406908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1">
                <a:solidFill>
                  <a:srgbClr val="3B0764"/>
                </a:solidFill>
                <a:latin typeface="Arial"/>
              </a:rPr>
              <a:t>Человек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07791" y="2423160"/>
            <a:ext cx="36576" cy="457200"/>
          </a:xfrm>
          <a:prstGeom prst="rect">
            <a:avLst/>
          </a:prstGeom>
          <a:solidFill>
            <a:srgbClr val="DDD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07791" y="3611880"/>
            <a:ext cx="36576" cy="228600"/>
          </a:xfrm>
          <a:prstGeom prst="rect">
            <a:avLst/>
          </a:prstGeom>
          <a:solidFill>
            <a:srgbClr val="DDD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45920" y="3822191"/>
            <a:ext cx="2560320" cy="36576"/>
          </a:xfrm>
          <a:prstGeom prst="rect">
            <a:avLst/>
          </a:prstGeom>
          <a:solidFill>
            <a:srgbClr val="DDD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27632" y="3840480"/>
            <a:ext cx="36576" cy="228600"/>
          </a:xfrm>
          <a:prstGeom prst="rect">
            <a:avLst/>
          </a:prstGeom>
          <a:solidFill>
            <a:srgbClr val="DDD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87952" y="3840480"/>
            <a:ext cx="36576" cy="228600"/>
          </a:xfrm>
          <a:prstGeom prst="rect">
            <a:avLst/>
          </a:prstGeom>
          <a:solidFill>
            <a:srgbClr val="DDD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760720" y="1645920"/>
            <a:ext cx="5790895" cy="205740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1783080"/>
            <a:ext cx="515081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Партнёр с аккаунтом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377440"/>
            <a:ext cx="5150815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Привяжите аккаунт. Переданные люди становятся его и видны в его списках.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3931920"/>
            <a:ext cx="5790895" cy="205740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4069080"/>
            <a:ext cx="515081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Партнёр без аккаунта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4663440"/>
            <a:ext cx="5150815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Люди остаются на вас. «Карточка передачи» собирает текст для мессенджера.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5780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B6580"/>
                </a:solidFill>
                <a:latin typeface="Arial"/>
              </a:rPr>
              <a:t>Каждая передача сохраняется: кто, кому, когда.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Активность команды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3454298" cy="13716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1920240"/>
            <a:ext cx="365760" cy="365760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783080"/>
            <a:ext cx="235701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>
                <a:solidFill>
                  <a:srgbClr val="3B0764"/>
                </a:solidFill>
                <a:latin typeface="Arial"/>
              </a:rPr>
              <a:t>Активен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377440"/>
            <a:ext cx="235701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B6580"/>
                </a:solidFill>
                <a:latin typeface="Arial"/>
              </a:rPr>
              <a:t>действие за 3 дня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8698" y="1645920"/>
            <a:ext cx="3454298" cy="13716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43018" y="192024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91658" y="1783080"/>
            <a:ext cx="235701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>
                <a:solidFill>
                  <a:srgbClr val="3B0764"/>
                </a:solidFill>
                <a:latin typeface="Arial"/>
              </a:rPr>
              <a:t>Затих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91658" y="2377440"/>
            <a:ext cx="235701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B6580"/>
                </a:solidFill>
                <a:latin typeface="Arial"/>
              </a:rPr>
              <a:t>3–6 дней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645920"/>
            <a:ext cx="3454298" cy="13716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71636" y="1920240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20276" y="1783080"/>
            <a:ext cx="235701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>
                <a:solidFill>
                  <a:srgbClr val="3B0764"/>
                </a:solidFill>
                <a:latin typeface="Arial"/>
              </a:rPr>
              <a:t>Давно нет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0276" y="2377440"/>
            <a:ext cx="235701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B6580"/>
                </a:solidFill>
                <a:latin typeface="Arial"/>
              </a:rPr>
              <a:t>7 дней и больше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91840"/>
            <a:ext cx="1091153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Первая линия: числа за 7 или 30 дней и дата последнего действия.</a:t>
            </a:r>
          </a:p>
          <a:p>
            <a:pPr algn="l" marL="177800" indent="-177800">
              <a:lnSpc>
                <a:spcPct val="118000"/>
              </a:lnSpc>
              <a:spcBef>
                <a:spcPts val="864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Люди по вашей ссылке: сводка только после их согласия.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46320"/>
            <a:ext cx="10911535" cy="1371600"/>
          </a:xfrm>
          <a:prstGeom prst="roundRect">
            <a:avLst>
              <a:gd name="adj" fmla="val 12000"/>
            </a:avLst>
          </a:prstGeom>
          <a:solidFill>
            <a:srgbClr val="3B07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37760"/>
            <a:ext cx="27432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F59E0B"/>
                </a:solidFill>
                <a:latin typeface="Arial"/>
              </a:rPr>
              <a:t>Согласие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937760"/>
            <a:ext cx="7436815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FFFFFF"/>
                </a:solidFill>
                <a:latin typeface="Arial"/>
              </a:rPr>
              <a:t>Только числа, без имён клиентов и без содержания. Галочку человек ставит сам, снять её можно в любой момент.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Карта сети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3454298" cy="2834640"/>
          </a:xfrm>
          <a:prstGeom prst="roundRect">
            <a:avLst>
              <a:gd name="adj" fmla="val 5806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1874519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3B0764"/>
                </a:solidFill>
                <a:latin typeface="Arial"/>
              </a:rPr>
              <a:t>По спонсорам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37560"/>
            <a:ext cx="290565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Партнёры под своими спонсорами, люди под теми, кто их привёл.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698" y="1645920"/>
            <a:ext cx="3454298" cy="2834640"/>
          </a:xfrm>
          <a:prstGeom prst="roundRect">
            <a:avLst>
              <a:gd name="adj" fmla="val 5806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43018" y="1874519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3018" y="187451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3018" y="2560320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3B0764"/>
                </a:solidFill>
                <a:latin typeface="Arial"/>
              </a:rPr>
              <a:t>По группам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3337560"/>
            <a:ext cx="290565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Дерево групп, в каждой её люди.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645920"/>
            <a:ext cx="3454298" cy="2834640"/>
          </a:xfrm>
          <a:prstGeom prst="roundRect">
            <a:avLst>
              <a:gd name="adj" fmla="val 5806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71636" y="1874519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71636" y="187451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1636" y="2560320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3B0764"/>
                </a:solidFill>
                <a:latin typeface="Arial"/>
              </a:rPr>
              <a:t>По тому, кто с кем работает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1636" y="3337560"/>
            <a:ext cx="290565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Партнёры рядом, у каждого переданные ему люди.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12857"/>
            </a:avLst>
          </a:prstGeom>
          <a:solidFill>
            <a:srgbClr val="3B07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846320"/>
            <a:ext cx="10180015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FFFFFF"/>
                </a:solidFill>
                <a:latin typeface="Arial"/>
              </a:rPr>
              <a:t>Цвет карточки: стадия воронки. Вы в центре карты, без отдельной карточки.</a:t>
            </a:r>
          </a:p>
          <a:p>
            <a:pPr algn="l" marL="177800" indent="-177800">
              <a:lnSpc>
                <a:spcPct val="118000"/>
              </a:lnSpc>
              <a:spcBef>
                <a:spcPts val="720"/>
              </a:spcBef>
              <a:buChar char="•"/>
            </a:pPr>
            <a:r>
              <a:rPr sz="1800" b="0">
                <a:solidFill>
                  <a:srgbClr val="FFFFFF"/>
                </a:solidFill>
                <a:latin typeface="Arial"/>
              </a:rPr>
              <a:t>Фильтры: скрыть людей без спонсора, этап, теплота, уровни, стороны слева и справа.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Мечта и расстояние до неё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5166360" cy="4480560"/>
          </a:xfrm>
          <a:prstGeom prst="roundRect">
            <a:avLst>
              <a:gd name="adj" fmla="val 3673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6B6580"/>
                </a:solidFill>
                <a:latin typeface="Arial"/>
              </a:rPr>
              <a:t>Моя мечта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44805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3B0764"/>
                </a:solidFill>
                <a:latin typeface="Arial"/>
              </a:rPr>
              <a:t>Дом у моря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49039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7C3AED"/>
                </a:solidFill>
                <a:latin typeface="Arial"/>
              </a:rPr>
              <a:t>К 31.12.2027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389120"/>
            <a:ext cx="4480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Нужно: 10 клиентов, 4 партнёра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577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6B6580"/>
                </a:solidFill>
                <a:latin typeface="Arial"/>
              </a:rPr>
              <a:t>Пример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45920"/>
            <a:ext cx="5379415" cy="4480560"/>
          </a:xfrm>
          <a:prstGeom prst="roundRect">
            <a:avLst>
              <a:gd name="adj" fmla="val 3673"/>
            </a:avLst>
          </a:prstGeom>
          <a:solidFill>
            <a:srgbClr val="3B0764"/>
          </a:solidFill>
          <a:ln w="9525">
            <a:solidFill>
              <a:srgbClr val="3B07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83080"/>
            <a:ext cx="464789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C4B5FD"/>
                </a:solidFill>
                <a:latin typeface="Arial"/>
              </a:rPr>
              <a:t>Расстояние до мечты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77440"/>
            <a:ext cx="464789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20% пути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3520440"/>
            <a:ext cx="4647895" cy="320040"/>
          </a:xfrm>
          <a:prstGeom prst="roundRect">
            <a:avLst>
              <a:gd name="adj" fmla="val 48571"/>
            </a:avLst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37960" y="3520440"/>
            <a:ext cx="929579" cy="320040"/>
          </a:xfrm>
          <a:prstGeom prst="roundRect">
            <a:avLst>
              <a:gd name="adj" fmla="val 48571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160520"/>
            <a:ext cx="464789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FFFFFF"/>
                </a:solidFill>
                <a:latin typeface="Arial"/>
              </a:rPr>
              <a:t>Осталось 16 клиентов и 4 партнёра</a:t>
            </a:r>
          </a:p>
          <a:p>
            <a:pPr algn="l" marL="177800" indent="-177800">
              <a:lnSpc>
                <a:spcPct val="118000"/>
              </a:lnSpc>
              <a:spcBef>
                <a:spcPts val="864"/>
              </a:spcBef>
              <a:buChar char="•"/>
            </a:pPr>
            <a:r>
              <a:rPr sz="1800" b="0">
                <a:solidFill>
                  <a:srgbClr val="FFFFFF"/>
                </a:solidFill>
                <a:latin typeface="Arial"/>
              </a:rPr>
              <a:t>430 дней впереди</a:t>
            </a:r>
          </a:p>
          <a:p>
            <a:pPr algn="l" marL="177800" indent="-177800">
              <a:lnSpc>
                <a:spcPct val="118000"/>
              </a:lnSpc>
              <a:spcBef>
                <a:spcPts val="864"/>
              </a:spcBef>
              <a:buChar char="•"/>
            </a:pPr>
            <a:r>
              <a:rPr sz="1800" b="0">
                <a:solidFill>
                  <a:srgbClr val="FFFFFF"/>
                </a:solidFill>
                <a:latin typeface="Arial"/>
              </a:rPr>
              <a:t>Темп: 1,7 клиента и 0,4 партнёра в неделю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Приглашения и тарифы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5272887" cy="3017520"/>
          </a:xfrm>
          <a:prstGeom prst="roundRect">
            <a:avLst>
              <a:gd name="adj" fmla="val 5454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19" y="1874519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19" y="187451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28800"/>
            <a:ext cx="3992727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Ссылка для клиентов и партнёров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4541367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Человек оставляет контакты, и в вашей CRM появляется его карточка: «Новый лид».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645920"/>
            <a:ext cx="5272887" cy="3017520"/>
          </a:xfrm>
          <a:prstGeom prst="roundRect">
            <a:avLst>
              <a:gd name="adj" fmla="val 5454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98767" y="1874519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187451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84567" y="1828800"/>
            <a:ext cx="3992727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Ссылка для тех, кто работает в MeetOwl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2834640"/>
            <a:ext cx="4541367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У человека своё пространство, а вы получаете бонусный балл за каждого.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937760"/>
            <a:ext cx="10911535" cy="1188720"/>
          </a:xfrm>
          <a:prstGeom prst="roundRect">
            <a:avLst>
              <a:gd name="adj" fmla="val 13846"/>
            </a:avLst>
          </a:prstGeom>
          <a:solidFill>
            <a:srgbClr val="3B07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937760"/>
            <a:ext cx="10180015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Сейчас открытая бета: все функции бесплатны. Ваши данные остаются у вас при любом тарифе.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Ежедневный ритм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3454298" cy="3566160"/>
          </a:xfrm>
          <a:prstGeom prst="roundRect">
            <a:avLst>
              <a:gd name="adj" fmla="val 4764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290565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Утро · 10 минут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2905658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Откройте «Мой день» и План дня.</a:t>
            </a:r>
          </a:p>
          <a:p>
            <a:pPr algn="l" marL="177800" indent="-177800">
              <a:lnSpc>
                <a:spcPct val="118000"/>
              </a:lnSpc>
              <a:spcBef>
                <a:spcPts val="864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Сначала просроченные и тёплые.</a:t>
            </a:r>
          </a:p>
          <a:p>
            <a:pPr algn="l" marL="177800" indent="-177800">
              <a:lnSpc>
                <a:spcPct val="118000"/>
              </a:lnSpc>
              <a:spcBef>
                <a:spcPts val="864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Запустите таймер.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68698" y="1645920"/>
            <a:ext cx="3454298" cy="3566160"/>
          </a:xfrm>
          <a:prstGeom prst="roundRect">
            <a:avLst>
              <a:gd name="adj" fmla="val 4764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43018" y="1783080"/>
            <a:ext cx="290565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День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43018" y="2514600"/>
            <a:ext cx="2905658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Идите по списку сверху вниз.</a:t>
            </a:r>
          </a:p>
          <a:p>
            <a:pPr algn="l" marL="177800" indent="-177800">
              <a:lnSpc>
                <a:spcPct val="118000"/>
              </a:lnSpc>
              <a:spcBef>
                <a:spcPts val="864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После каждого: «Сделано» и новая дата.</a:t>
            </a:r>
          </a:p>
          <a:p>
            <a:pPr algn="l" marL="177800" indent="-177800">
              <a:lnSpc>
                <a:spcPct val="118000"/>
              </a:lnSpc>
              <a:spcBef>
                <a:spcPts val="864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Новых знакомых добавляйте в список.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7316" y="1645920"/>
            <a:ext cx="3454298" cy="3566160"/>
          </a:xfrm>
          <a:prstGeom prst="roundRect">
            <a:avLst>
              <a:gd name="adj" fmla="val 4764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71636" y="1783080"/>
            <a:ext cx="290565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7C3AED"/>
                </a:solidFill>
                <a:latin typeface="Arial"/>
              </a:rPr>
              <a:t>Вечер · 5 минут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71636" y="2514600"/>
            <a:ext cx="2905658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Остановите таймер.</a:t>
            </a:r>
          </a:p>
          <a:p>
            <a:pPr algn="l" marL="177800" indent="-177800">
              <a:lnSpc>
                <a:spcPct val="118000"/>
              </a:lnSpc>
              <a:spcBef>
                <a:spcPts val="864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У всех следующий шаг с датой.</a:t>
            </a:r>
          </a:p>
          <a:p>
            <a:pPr algn="l" marL="177800" indent="-177800">
              <a:lnSpc>
                <a:spcPct val="118000"/>
              </a:lnSpc>
              <a:spcBef>
                <a:spcPts val="864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Заметка: итог дня и завтрашний шаг.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440680"/>
            <a:ext cx="10911535" cy="777240"/>
          </a:xfrm>
          <a:prstGeom prst="roundRect">
            <a:avLst>
              <a:gd name="adj" fmla="val 18823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440680"/>
            <a:ext cx="1018001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3B0764"/>
                </a:solidFill>
                <a:latin typeface="Arial"/>
              </a:rPr>
              <a:t>Правило дня: три закрытых шага минимум.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Недельный ритм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37360"/>
            <a:ext cx="1999427" cy="3931920"/>
          </a:xfrm>
          <a:prstGeom prst="roundRect">
            <a:avLst>
              <a:gd name="adj" fmla="val 8231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" y="196596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154222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3B0764"/>
                </a:solidFill>
                <a:latin typeface="Arial"/>
              </a:rPr>
              <a:t>Итоги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383280"/>
            <a:ext cx="1542227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Факт против целей недели.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68107" y="1737360"/>
            <a:ext cx="1999427" cy="3931920"/>
          </a:xfrm>
          <a:prstGeom prst="roundRect">
            <a:avLst>
              <a:gd name="adj" fmla="val 8231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096707" y="196596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96707" y="19659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6707" y="2743200"/>
            <a:ext cx="154222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3B0764"/>
                </a:solidFill>
                <a:latin typeface="Arial"/>
              </a:rPr>
              <a:t>Люди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707" y="3383280"/>
            <a:ext cx="1542227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Не отвечают, отказы, пополнение списка.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96134" y="1737360"/>
            <a:ext cx="1999427" cy="3931920"/>
          </a:xfrm>
          <a:prstGeom prst="roundRect">
            <a:avLst>
              <a:gd name="adj" fmla="val 8231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24734" y="196596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4734" y="19659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4734" y="2743200"/>
            <a:ext cx="154222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3B0764"/>
                </a:solidFill>
                <a:latin typeface="Arial"/>
              </a:rPr>
              <a:t>Команда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24734" y="3383280"/>
            <a:ext cx="1542227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Кто затих: «Активность команды». Кому позвонить.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24161" y="1737360"/>
            <a:ext cx="1999427" cy="3931920"/>
          </a:xfrm>
          <a:prstGeom prst="roundRect">
            <a:avLst>
              <a:gd name="adj" fmla="val 8231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52761" y="196596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2761" y="19659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2761" y="2743200"/>
            <a:ext cx="154222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3B0764"/>
                </a:solidFill>
                <a:latin typeface="Arial"/>
              </a:rPr>
              <a:t>Мечта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2761" y="3383280"/>
            <a:ext cx="1542227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Хватает ли нынешнего темпа?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52188" y="1737360"/>
            <a:ext cx="1999427" cy="3931920"/>
          </a:xfrm>
          <a:prstGeom prst="roundRect">
            <a:avLst>
              <a:gd name="adj" fmla="val 8231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80788" y="196596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0788" y="19659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0788" y="2743200"/>
            <a:ext cx="154222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3B0764"/>
                </a:solidFill>
                <a:latin typeface="Arial"/>
              </a:rPr>
              <a:t>Цели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0788" y="3383280"/>
            <a:ext cx="1542227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>
                <a:solidFill>
                  <a:srgbClr val="1F1B2E"/>
                </a:solidFill>
                <a:latin typeface="Arial"/>
              </a:rPr>
              <a:t>На следующую неделю: чуть выше нынешних.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6B6580"/>
                </a:solidFill>
                <a:latin typeface="Arial"/>
              </a:rPr>
              <a:t>30 минут на разбор раз в неделю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Таймер и заметки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5272887" cy="4480560"/>
          </a:xfrm>
          <a:prstGeom prst="roundRect">
            <a:avLst>
              <a:gd name="adj" fmla="val 3673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454136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7C3AED"/>
                </a:solidFill>
                <a:latin typeface="Arial"/>
              </a:rPr>
              <a:t>Таймер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743200"/>
            <a:ext cx="4541367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«Старт» вверху справа: на задаче или просто на «звонки».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Идёт, пока вы сами не остановите.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Итоги: день, неделя, месяц, всего.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8727" y="1645920"/>
            <a:ext cx="5272887" cy="4480560"/>
          </a:xfrm>
          <a:prstGeom prst="roundRect">
            <a:avLst>
              <a:gd name="adj" fmla="val 3673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44487" y="1828800"/>
            <a:ext cx="454136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7C3AED"/>
                </a:solidFill>
                <a:latin typeface="Arial"/>
              </a:rPr>
              <a:t>Заметки и ссылки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4487" y="2743200"/>
            <a:ext cx="4541367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Личный блокнот: видите только вы.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Сохраняется само.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Ссылки открываются одной кнопкой.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3B0764"/>
                </a:solidFill>
                <a:latin typeface="Arial"/>
              </a:rPr>
              <a:t>Таймлайн и умная сортировка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5272887" cy="4480560"/>
          </a:xfrm>
          <a:prstGeom prst="roundRect">
            <a:avLst>
              <a:gd name="adj" fmla="val 3673"/>
            </a:avLst>
          </a:prstGeom>
          <a:solidFill>
            <a:srgbClr val="F5F3FF"/>
          </a:solidFill>
          <a:ln w="9525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454136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7C3AED"/>
                </a:solidFill>
                <a:latin typeface="Arial"/>
              </a:rPr>
              <a:t>Таймлайн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743200"/>
            <a:ext cx="4541367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Ось начинается сегодня: прошлого нет.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Просроченное остаётся в начале красной полоской.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«Весь период», «Дни», «Недели», «Месяцы» и «−/+».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1F1B2E"/>
                </a:solidFill>
                <a:latin typeface="Arial"/>
              </a:rPr>
              <a:t>«Скрыть выполненные»: останется то, что впереди.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8727" y="1645920"/>
            <a:ext cx="5272887" cy="4480560"/>
          </a:xfrm>
          <a:prstGeom prst="roundRect">
            <a:avLst>
              <a:gd name="adj" fmla="val 3673"/>
            </a:avLst>
          </a:prstGeom>
          <a:solidFill>
            <a:srgbClr val="3B0764"/>
          </a:solidFill>
          <a:ln w="9525">
            <a:solidFill>
              <a:srgbClr val="3B07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44487" y="1828800"/>
            <a:ext cx="454136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Умная сортировка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4487" y="2743200"/>
            <a:ext cx="4541367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77800" indent="-177800">
              <a:lnSpc>
                <a:spcPct val="118000"/>
              </a:lnSpc>
              <a:buChar char="•"/>
            </a:pPr>
            <a:r>
              <a:rPr sz="1800" b="0">
                <a:solidFill>
                  <a:srgbClr val="C4B5FD"/>
                </a:solidFill>
                <a:latin typeface="Arial"/>
              </a:rPr>
              <a:t>Объём в story points: 1 SP = 10 минут.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C4B5FD"/>
                </a:solidFill>
                <a:latin typeface="Arial"/>
              </a:rPr>
              <a:t>У каждого исполнителя своя очередь.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C4B5FD"/>
                </a:solidFill>
                <a:latin typeface="Arial"/>
              </a:rPr>
              <a:t>Расстановка начинается с сегодняшнего дня.</a:t>
            </a:r>
          </a:p>
          <a:p>
            <a:pPr algn="l" marL="177800" indent="-177800">
              <a:lnSpc>
                <a:spcPct val="118000"/>
              </a:lnSpc>
              <a:spcBef>
                <a:spcPts val="1008"/>
              </a:spcBef>
              <a:buChar char="•"/>
            </a:pPr>
            <a:r>
              <a:rPr sz="1800" b="0">
                <a:solidFill>
                  <a:srgbClr val="C4B5FD"/>
                </a:solidFill>
                <a:latin typeface="Arial"/>
              </a:rPr>
              <a:t>«Отменить» возвращает прежние даты.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07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863840" y="2926080"/>
            <a:ext cx="6766560" cy="67665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286000"/>
            <a:ext cx="86868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1">
                <a:solidFill>
                  <a:srgbClr val="FFFFFF"/>
                </a:solidFill>
                <a:latin typeface="Arial"/>
              </a:rPr>
              <a:t>Начните со «Старта»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749807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C4B5FD"/>
                </a:solidFill>
                <a:latin typeface="Arial"/>
              </a:rPr>
              <a:t>Шаги в приложении отмечаются сами, по мере вашей работы. Нужна подсказка? В «Базе знаний» те же статьи с поиском.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MeetOwl</dc:title>
  <dc:subject/>
  <dc:creator>MeetOwl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