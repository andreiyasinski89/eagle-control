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 первого входа до ритма: список, воронка, план дня, команда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2011680"/>
            <a:ext cx="6858000" cy="68580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4754880"/>
            <a:ext cx="3840480" cy="3840480"/>
          </a:xfrm>
          <a:prstGeom prst="ellipse">
            <a:avLst/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743200"/>
            <a:ext cx="86868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6600" b="1">
                <a:solidFill>
                  <a:srgbClr val="FFFFFF"/>
                </a:solidFill>
                <a:latin typeface="Arial"/>
              </a:rPr>
              <a:t>MeetOwl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8229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800" b="0">
                <a:solidFill>
                  <a:srgbClr val="FFFFFF"/>
                </a:solidFill>
                <a:latin typeface="Arial"/>
              </a:rPr>
              <a:t>Как вести дело с людьми каждый день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7772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C4B5FD"/>
                </a:solidFill>
                <a:latin typeface="Arial"/>
              </a:rPr>
              <a:t>От первого входа до ритма: список, воронка, план дня, команда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Весь путь на одной странице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3B0764"/>
                </a:solidFill>
                <a:latin typeface="Arial"/>
              </a:rPr>
              <a:t>Список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Выпишите всех, кого знаете. Цель — 100 имён.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39" y="292608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73736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749039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6517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3B0764"/>
                </a:solidFill>
                <a:latin typeface="Arial"/>
              </a:rPr>
              <a:t>Воронка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29184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Двигайте людей от нового лида к клиенту или партнёру.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7879" y="292608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73736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368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6517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3B0764"/>
                </a:solidFill>
                <a:latin typeface="Arial"/>
              </a:rPr>
              <a:t>План дня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29184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Каждое утро: кому и что сделать сегодня.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2926080"/>
            <a:ext cx="4114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600" b="1">
                <a:solidFill>
                  <a:srgbClr val="7C3AED"/>
                </a:solidFill>
                <a:latin typeface="Arial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737360"/>
            <a:ext cx="2423160" cy="2926080"/>
          </a:xfrm>
          <a:prstGeom prst="roundRect">
            <a:avLst>
              <a:gd name="adj" fmla="val 679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41832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651760"/>
            <a:ext cx="18745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200" b="1">
                <a:solidFill>
                  <a:srgbClr val="3B0764"/>
                </a:solidFill>
                <a:latin typeface="Arial"/>
              </a:rPr>
              <a:t>Команда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3291840"/>
            <a:ext cx="1874519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Партнёры, спонсоры, передача людей и карта сети.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120640"/>
            <a:ext cx="10911535" cy="914400"/>
          </a:xfrm>
          <a:prstGeom prst="roundRect">
            <a:avLst>
              <a:gd name="adj" fmla="val 18000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5120640"/>
            <a:ext cx="1018001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Результат даёт не героический день, а повторяющийся ритм.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Первые 10 минут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901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901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Часы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560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Укажите часовой пояс в настройках.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0832" y="1645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26864" y="1901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26864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39512" y="1901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Мечта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6864" y="2560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Запишите мечту, дату и цели по клиентам и партнёрам.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645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7615" y="1901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5" y="1901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3" y="1901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Люди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5" y="2560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Вставьте имена списком: «Добавить список».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31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96112" y="4187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187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Шаги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846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У каждого человека: следующий шаг и дата.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931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26864" y="4187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26864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9512" y="4187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Скрипт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6864" y="4846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Сохраните текст, который отправляете чаще всего.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3931920"/>
            <a:ext cx="3429000" cy="1965960"/>
          </a:xfrm>
          <a:prstGeom prst="roundRect">
            <a:avLst>
              <a:gd name="adj" fmla="val 8372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57615" y="418795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57615" y="4187952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70263" y="4187952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План дня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846320"/>
            <a:ext cx="2916936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Идите по списку «К действию сегодня».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Как устроено приложение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00200"/>
            <a:ext cx="3566160" cy="3154680"/>
          </a:xfrm>
          <a:prstGeom prst="roundRect">
            <a:avLst>
              <a:gd name="adj" fmla="val 5217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6916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Работа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194560"/>
            <a:ext cx="310896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Мой день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Старт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Мои задачи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Проекты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Календарь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Время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Заметки и ссылки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База знаний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600200"/>
            <a:ext cx="4572000" cy="3154680"/>
          </a:xfrm>
          <a:prstGeom prst="roundRect">
            <a:avLst>
              <a:gd name="adj" fmla="val 5217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1691640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Клиенты: CRM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9160" y="2194560"/>
            <a:ext cx="4114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План дня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Люди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Команда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Карта сети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Сделки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Компании, контакты, дела</a:t>
            </a:r>
          </a:p>
          <a:p>
            <a:pPr algn="l">
              <a:lnSpc>
                <a:spcPct val="118000"/>
              </a:lnSpc>
              <a:spcBef>
                <a:spcPts val="288"/>
              </a:spcBef>
            </a:pPr>
            <a:r>
              <a:rPr sz="1800" b="0">
                <a:solidFill>
                  <a:srgbClr val="1F1B2E"/>
                </a:solidFill>
                <a:latin typeface="Arial"/>
              </a:rPr>
              <a:t>Скрипты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0" y="1600200"/>
            <a:ext cx="2130552" cy="3154680"/>
          </a:xfrm>
          <a:prstGeom prst="roundRect">
            <a:avLst>
              <a:gd name="adj" fmla="val 7725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55480" y="1691640"/>
            <a:ext cx="167335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Аналитика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55480" y="2194560"/>
            <a:ext cx="1673352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Отчёты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983480"/>
            <a:ext cx="10911535" cy="1280160"/>
          </a:xfrm>
          <a:prstGeom prst="roundRect">
            <a:avLst>
              <a:gd name="adj" fmla="val 12857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983480"/>
            <a:ext cx="1018001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Ctrl+K: поиск и быстрый переход</a:t>
            </a:r>
          </a:p>
          <a:p>
            <a:pPr algn="l" marL="177800" indent="-177800">
              <a:lnSpc>
                <a:spcPct val="118000"/>
              </a:lnSpc>
              <a:spcBef>
                <a:spcPts val="432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«Старт» вверху справа: таймер на любой странице</a:t>
            </a:r>
          </a:p>
          <a:p>
            <a:pPr algn="l" marL="177800" indent="-177800">
              <a:lnSpc>
                <a:spcPct val="118000"/>
              </a:lnSpc>
              <a:spcBef>
                <a:spcPts val="432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Часовой пояс: в настройках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Воронка: девять стадий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19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3B0764"/>
                </a:solidFill>
                <a:latin typeface="Arial"/>
              </a:rPr>
              <a:t>Новый лид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0591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42032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3B0764"/>
                </a:solidFill>
                <a:latin typeface="Arial"/>
              </a:rPr>
              <a:t>Первый контакт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61104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52544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Прогрев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1616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63055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Презентация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7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Принимает решение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92640" y="1691640"/>
            <a:ext cx="1627632" cy="1371600"/>
          </a:xfrm>
          <a:prstGeom prst="roundRect">
            <a:avLst>
              <a:gd name="adj" fmla="val 9333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0" y="1691640"/>
            <a:ext cx="1444752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Клиент / Партнёр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337560"/>
            <a:ext cx="10911535" cy="685800"/>
          </a:xfrm>
          <a:prstGeom prst="roundRect">
            <a:avLst>
              <a:gd name="adj" fmla="val 24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37560"/>
            <a:ext cx="10362895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6580"/>
                </a:solidFill>
                <a:latin typeface="Arial"/>
              </a:rPr>
              <a:t>Отказ · Не отвечает  —  Скрытая колонка сбоку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Теплота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983480"/>
            <a:ext cx="299709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Горячий, тёплый, холодный.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68698" y="4343400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7298" y="44805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Приоритет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97298" y="4983480"/>
            <a:ext cx="299709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Что важнее человеку: путешествия или бизнес.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97316" y="4343400"/>
            <a:ext cx="3454298" cy="1783080"/>
          </a:xfrm>
          <a:prstGeom prst="roundRect">
            <a:avLst>
              <a:gd name="adj" fmla="val 923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5916" y="4480560"/>
            <a:ext cx="2997098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Следующий шаг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5916" y="4983480"/>
            <a:ext cx="2997098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У каждого, с датой: так человек попадёт в план дня.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Список 100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1645920"/>
            <a:ext cx="3291840" cy="32918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3291840" cy="3291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8000" b="1">
                <a:solidFill>
                  <a:srgbClr val="FFFFFF"/>
                </a:solidFill>
                <a:latin typeface="Arial"/>
              </a:rPr>
              <a:t>100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21208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Выпишите всех, кого знаете, без фильтрации. Сортировка потом. Для старта хватит 25 имён.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1645920"/>
            <a:ext cx="5699455" cy="3657600"/>
          </a:xfrm>
          <a:prstGeom prst="roundRect">
            <a:avLst>
              <a:gd name="adj" fmla="val 45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783080"/>
            <a:ext cx="505937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Вставьте по одному в строке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514600"/>
            <a:ext cx="5059375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2514600"/>
            <a:ext cx="46936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Анна Ковальска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291840"/>
            <a:ext cx="5059375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3291840"/>
            <a:ext cx="46936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Егор Потапов — познакомились на конференции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069080"/>
            <a:ext cx="5059375" cy="594360"/>
          </a:xfrm>
          <a:prstGeom prst="roundRect">
            <a:avLst>
              <a:gd name="adj" fmla="val 15384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4069080"/>
            <a:ext cx="4693615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Катя; @kate; +48 600 111 222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5486400"/>
            <a:ext cx="569945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6580"/>
                </a:solidFill>
                <a:latin typeface="Arial"/>
              </a:rPr>
              <a:t>Одинаковые имена не задвоятся: приложение их пропустит.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Скрипты и автопланы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272887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19" y="1874519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19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74519"/>
            <a:ext cx="39927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3B0764"/>
                </a:solidFill>
                <a:latin typeface="Arial"/>
              </a:rPr>
              <a:t>Скрипты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4541367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Готовый текст на каждый момент: первое сообщение, приглашение, повторное касание.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Имена подставляются сами: {name}, {full_name}, {my_name}.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Кнопка «Копировать» в карточке и в плане дня.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645920"/>
            <a:ext cx="5272887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98767" y="1874519"/>
            <a:ext cx="502920" cy="50292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8767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84567" y="1874519"/>
            <a:ext cx="3992727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3B0764"/>
                </a:solidFill>
                <a:latin typeface="Arial"/>
              </a:rPr>
              <a:t>Автопланы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2697480"/>
            <a:ext cx="4541367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Для стадии один раз задаёте следующий шаг и через сколько дней.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Человек перешёл на стадию, и шаг с датой заполнились сами.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Ваш собственный шаг при переходе автоплан не перезапишет.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План дня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166360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19" y="1783080"/>
            <a:ext cx="4526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7C3AED"/>
                </a:solidFill>
                <a:latin typeface="Arial"/>
              </a:rPr>
              <a:t>Неделя против целей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19" y="24688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24688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Добавлено в список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39" y="24688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24688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Выходов на контакт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19" y="33832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33832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Презентации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33832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33832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Клиенты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19" y="42976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2976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Партнёры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39" y="42976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01568" y="4297680"/>
            <a:ext cx="1975104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1F1B2E"/>
                </a:solidFill>
                <a:latin typeface="Arial"/>
              </a:rPr>
              <a:t>Звонки и встречи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5303520"/>
            <a:ext cx="45262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6580"/>
                </a:solidFill>
                <a:latin typeface="Arial"/>
              </a:rPr>
              <a:t>Считаются сами, по вашим часам.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45920"/>
            <a:ext cx="5379415" cy="4480560"/>
          </a:xfrm>
          <a:prstGeom prst="roundRect">
            <a:avLst>
              <a:gd name="adj" fmla="val 3673"/>
            </a:avLst>
          </a:prstGeom>
          <a:solidFill>
            <a:srgbClr val="3B0764"/>
          </a:solidFill>
          <a:ln w="9525">
            <a:solidFill>
              <a:srgbClr val="3B07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783080"/>
            <a:ext cx="4739335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К действию сегодня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2514600"/>
            <a:ext cx="1828800" cy="594360"/>
          </a:xfrm>
          <a:prstGeom prst="roundRect">
            <a:avLst>
              <a:gd name="adj" fmla="val 18461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5146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Сделано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2514600"/>
            <a:ext cx="1828800" cy="594360"/>
          </a:xfrm>
          <a:prstGeom prst="roundRect">
            <a:avLst>
              <a:gd name="adj" fmla="val 18461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514600"/>
            <a:ext cx="182880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Дальше через 1 дн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3291840"/>
            <a:ext cx="1097280" cy="594360"/>
          </a:xfrm>
          <a:prstGeom prst="roundRect">
            <a:avLst>
              <a:gd name="adj" fmla="val 18461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32918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3 дн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26680" y="3291840"/>
            <a:ext cx="1097280" cy="594360"/>
          </a:xfrm>
          <a:prstGeom prst="roundRect">
            <a:avLst>
              <a:gd name="adj" fmla="val 18461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26680" y="32918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FFFFFF"/>
                </a:solidFill>
                <a:latin typeface="Arial"/>
              </a:rPr>
              <a:t>7 дн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3291840"/>
            <a:ext cx="1097280" cy="594360"/>
          </a:xfrm>
          <a:prstGeom prst="roundRect">
            <a:avLst>
              <a:gd name="adj" fmla="val 18461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3291840"/>
            <a:ext cx="1097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1">
                <a:solidFill>
                  <a:srgbClr val="3B0764"/>
                </a:solidFill>
                <a:latin typeface="Arial"/>
              </a:rPr>
              <a:t>Скрипт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4297680"/>
            <a:ext cx="4739335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C4B5FD"/>
                </a:solidFill>
                <a:latin typeface="Arial"/>
              </a:rPr>
              <a:t>Закрытый шаг записывается в ленту человека. Нужна новая дата? Нажмите «Дальше через…».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Группы и подгруппы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3566160" cy="822960"/>
          </a:xfrm>
          <a:prstGeom prst="roundRect">
            <a:avLst>
              <a:gd name="adj" fmla="val 15555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17373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Холодный рынок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788920"/>
            <a:ext cx="3566160" cy="822960"/>
          </a:xfrm>
          <a:prstGeom prst="roundRect">
            <a:avLst>
              <a:gd name="adj" fmla="val 15555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39" y="278892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FFFFFF"/>
                </a:solidFill>
                <a:latin typeface="Arial"/>
              </a:rPr>
              <a:t>Спортзал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20239" y="3840479"/>
            <a:ext cx="3566160" cy="822960"/>
          </a:xfrm>
          <a:prstGeom prst="roundRect">
            <a:avLst>
              <a:gd name="adj" fmla="val 15555"/>
            </a:avLst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3840479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Утренний класс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206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6B6580"/>
                </a:solidFill>
                <a:latin typeface="Arial"/>
              </a:rPr>
              <a:t>1  ›  2  ›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645920"/>
            <a:ext cx="5608015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4876495" cy="402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До трёх уровней вложенности.</a:t>
            </a:r>
          </a:p>
          <a:p>
            <a:pPr algn="l" marL="177800" indent="-177800">
              <a:lnSpc>
                <a:spcPct val="118000"/>
              </a:lnSpc>
              <a:spcBef>
                <a:spcPts val="1080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Человек состоит в одной группе.</a:t>
            </a:r>
          </a:p>
          <a:p>
            <a:pPr algn="l" marL="177800" indent="-177800">
              <a:lnSpc>
                <a:spcPct val="118000"/>
              </a:lnSpc>
              <a:spcBef>
                <a:spcPts val="1080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Выбор группы показывает людей вместе с подгруппами.</a:t>
            </a:r>
          </a:p>
          <a:p>
            <a:pPr algn="l" marL="177800" indent="-177800">
              <a:lnSpc>
                <a:spcPct val="118000"/>
              </a:lnSpc>
              <a:spcBef>
                <a:spcPts val="1080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Удаление группы никого не удаляет.</a:t>
            </a:r>
          </a:p>
          <a:p>
            <a:pPr algn="l" marL="177800" indent="-177800">
              <a:lnSpc>
                <a:spcPct val="118000"/>
              </a:lnSpc>
              <a:spcBef>
                <a:spcPts val="1080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Массово: галочки на карточках → «Перенести в группу».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Партнёры и команда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20239" y="1691640"/>
            <a:ext cx="2011680" cy="731520"/>
          </a:xfrm>
          <a:prstGeom prst="roundRect">
            <a:avLst>
              <a:gd name="adj" fmla="val 17500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920239" y="169164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Вы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39" y="2880360"/>
            <a:ext cx="2011680" cy="731520"/>
          </a:xfrm>
          <a:prstGeom prst="roundRect">
            <a:avLst>
              <a:gd name="adj" fmla="val 17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920239" y="288036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Партнёр 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69080"/>
            <a:ext cx="2011680" cy="731520"/>
          </a:xfrm>
          <a:prstGeom prst="roundRect">
            <a:avLst>
              <a:gd name="adj" fmla="val 17500"/>
            </a:avLst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0690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FFFFFF"/>
                </a:solidFill>
                <a:latin typeface="Arial"/>
              </a:rPr>
              <a:t>Партнёр 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4069080"/>
            <a:ext cx="2011680" cy="731520"/>
          </a:xfrm>
          <a:prstGeom prst="roundRect">
            <a:avLst>
              <a:gd name="adj" fmla="val 17500"/>
            </a:avLst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069080"/>
            <a:ext cx="201168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1600" b="1">
                <a:solidFill>
                  <a:srgbClr val="3B0764"/>
                </a:solidFill>
                <a:latin typeface="Arial"/>
              </a:rPr>
              <a:t>Человек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07791" y="2423160"/>
            <a:ext cx="36576" cy="4572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07791" y="3611880"/>
            <a:ext cx="36576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645920" y="3822191"/>
            <a:ext cx="2560320" cy="36576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27632" y="3840480"/>
            <a:ext cx="36576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87952" y="3840480"/>
            <a:ext cx="36576" cy="228600"/>
          </a:xfrm>
          <a:prstGeom prst="rect">
            <a:avLst/>
          </a:prstGeom>
          <a:solidFill>
            <a:srgbClr val="DDD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720" y="1645920"/>
            <a:ext cx="5790895" cy="2057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783080"/>
            <a:ext cx="51508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Партнёр с аккаунтом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377440"/>
            <a:ext cx="515081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Привяжите аккаунт. Переданные люди становятся его и видны в его списках.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3931920"/>
            <a:ext cx="5790895" cy="2057400"/>
          </a:xfrm>
          <a:prstGeom prst="roundRect">
            <a:avLst>
              <a:gd name="adj" fmla="val 8000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80760" y="4069080"/>
            <a:ext cx="5150815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Партнёр без аккаунта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663440"/>
            <a:ext cx="515081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Люди остаются на вас. «Карточка передачи» собирает текст для мессенджера.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25780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6B6580"/>
                </a:solidFill>
                <a:latin typeface="Arial"/>
              </a:rPr>
              <a:t>Каждая передача сохраняется: кто, кому, когда.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Карта сети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54298" cy="2834640"/>
          </a:xfrm>
          <a:prstGeom prst="roundRect">
            <a:avLst>
              <a:gd name="adj" fmla="val 5806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874519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По спонсорам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29056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Партнёры под своими спонсорами, люди под теми, кто их привёл.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8698" y="1645920"/>
            <a:ext cx="3454298" cy="2834640"/>
          </a:xfrm>
          <a:prstGeom prst="roundRect">
            <a:avLst>
              <a:gd name="adj" fmla="val 5806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643018" y="1874519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3018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3018" y="256032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По группам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018" y="3337560"/>
            <a:ext cx="29056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Дерево групп, в каждой её люди.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7316" y="1645920"/>
            <a:ext cx="3454298" cy="2834640"/>
          </a:xfrm>
          <a:prstGeom prst="roundRect">
            <a:avLst>
              <a:gd name="adj" fmla="val 5806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71636" y="1874519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1636" y="187451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1636" y="2560320"/>
            <a:ext cx="290565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По тому, кто с кем работает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3337560"/>
            <a:ext cx="290565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Партнёры рядом, у каждого переданные ему люди.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12857"/>
            </a:avLst>
          </a:prstGeom>
          <a:solidFill>
            <a:srgbClr val="3B07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46320"/>
            <a:ext cx="10180015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Цвет карточки: стадия воронки.</a:t>
            </a:r>
          </a:p>
          <a:p>
            <a:pPr algn="l" marL="177800" indent="-177800">
              <a:lnSpc>
                <a:spcPct val="118000"/>
              </a:lnSpc>
              <a:spcBef>
                <a:spcPts val="720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Нажмите на человека: откроется его карточка.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Мечта и расстояние до неё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166360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6B6580"/>
                </a:solidFill>
                <a:latin typeface="Arial"/>
              </a:rPr>
              <a:t>Моя мечта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77440"/>
            <a:ext cx="44805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400" b="1">
                <a:solidFill>
                  <a:srgbClr val="3B0764"/>
                </a:solidFill>
                <a:latin typeface="Arial"/>
              </a:rPr>
              <a:t>Дом у моря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49039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7C3AED"/>
                </a:solidFill>
                <a:latin typeface="Arial"/>
              </a:rPr>
              <a:t>К 31.12.2027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389120"/>
            <a:ext cx="44805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Нужно: 10 клиентов, 4 партнёра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577840"/>
            <a:ext cx="4480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6B6580"/>
                </a:solidFill>
                <a:latin typeface="Arial"/>
              </a:rPr>
              <a:t>Пример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45920"/>
            <a:ext cx="5379415" cy="4480560"/>
          </a:xfrm>
          <a:prstGeom prst="roundRect">
            <a:avLst>
              <a:gd name="adj" fmla="val 3673"/>
            </a:avLst>
          </a:prstGeom>
          <a:solidFill>
            <a:srgbClr val="3B0764"/>
          </a:solidFill>
          <a:ln w="9525">
            <a:solidFill>
              <a:srgbClr val="3B07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783080"/>
            <a:ext cx="464789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C4B5FD"/>
                </a:solidFill>
                <a:latin typeface="Arial"/>
              </a:rPr>
              <a:t>Расстояние до мечты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377440"/>
            <a:ext cx="4647895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20% пути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3520440"/>
            <a:ext cx="4647895" cy="320040"/>
          </a:xfrm>
          <a:prstGeom prst="roundRect">
            <a:avLst>
              <a:gd name="adj" fmla="val 48571"/>
            </a:avLst>
          </a:prstGeom>
          <a:solidFill>
            <a:srgbClr val="5B21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3520440"/>
            <a:ext cx="929579" cy="320040"/>
          </a:xfrm>
          <a:prstGeom prst="roundRect">
            <a:avLst>
              <a:gd name="adj" fmla="val 48571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4160520"/>
            <a:ext cx="464789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Осталось 16 клиентов и 4 партнёра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430 дней впереди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FFFFFF"/>
                </a:solidFill>
                <a:latin typeface="Arial"/>
              </a:rPr>
              <a:t>Темп: 1,7 клиента и 0,4 партнёра в неделю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Ежедневный ритм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3454298" cy="3566160"/>
          </a:xfrm>
          <a:prstGeom prst="roundRect">
            <a:avLst>
              <a:gd name="adj" fmla="val 4764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Утро · 10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2905658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Откройте План дня.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Сначала просроченные и тёплые.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Запустите таймер.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68698" y="1645920"/>
            <a:ext cx="3454298" cy="3566160"/>
          </a:xfrm>
          <a:prstGeom prst="roundRect">
            <a:avLst>
              <a:gd name="adj" fmla="val 4764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3018" y="1783080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День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3018" y="2514600"/>
            <a:ext cx="2905658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Идите по списку сверху вниз.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После каждого: «Сделано» и новая дата.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Новых знакомых добавляйте в список.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7316" y="1645920"/>
            <a:ext cx="3454298" cy="3566160"/>
          </a:xfrm>
          <a:prstGeom prst="roundRect">
            <a:avLst>
              <a:gd name="adj" fmla="val 4764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71636" y="1783080"/>
            <a:ext cx="2905658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7C3AED"/>
                </a:solidFill>
                <a:latin typeface="Arial"/>
              </a:rPr>
              <a:t>Вечер · 5 минут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1636" y="2514600"/>
            <a:ext cx="2905658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Остановите таймер.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У всех следующий шаг с датой.</a:t>
            </a:r>
          </a:p>
          <a:p>
            <a:pPr algn="l" marL="177800" indent="-177800">
              <a:lnSpc>
                <a:spcPct val="118000"/>
              </a:lnSpc>
              <a:spcBef>
                <a:spcPts val="864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Заметка: итог дня и завтрашний шаг.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40680"/>
            <a:ext cx="10911535" cy="777240"/>
          </a:xfrm>
          <a:prstGeom prst="roundRect">
            <a:avLst>
              <a:gd name="adj" fmla="val 18823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440680"/>
            <a:ext cx="101800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1">
                <a:solidFill>
                  <a:srgbClr val="3B0764"/>
                </a:solidFill>
                <a:latin typeface="Arial"/>
              </a:rPr>
              <a:t>Правило дня: три закрытых шага минимум.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Недельный ритм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Итоги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Факт против целей недели.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68107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96707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96707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6707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Люди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6707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Не отвечают, отказы, пополнение списка.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6134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24734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4734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4734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Команда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4734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Кому позвонить и кому передать людей.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4161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552761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2761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2761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Мечта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761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Хватает ли нынешнего темпа?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2188" y="1737360"/>
            <a:ext cx="1999427" cy="3931920"/>
          </a:xfrm>
          <a:prstGeom prst="roundRect">
            <a:avLst>
              <a:gd name="adj" fmla="val 8231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80788" y="1965960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0788" y="196596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8000"/>
              </a:lnSpc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0788" y="2743200"/>
            <a:ext cx="1542227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1">
                <a:solidFill>
                  <a:srgbClr val="3B0764"/>
                </a:solidFill>
                <a:latin typeface="Arial"/>
              </a:rPr>
              <a:t>Цели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0788" y="3383280"/>
            <a:ext cx="1542227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800" b="0">
                <a:solidFill>
                  <a:srgbClr val="1F1B2E"/>
                </a:solidFill>
                <a:latin typeface="Arial"/>
              </a:rPr>
              <a:t>На следующую неделю: чуть выше нынешних.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>
                <a:solidFill>
                  <a:srgbClr val="6B6580"/>
                </a:solidFill>
                <a:latin typeface="Arial"/>
              </a:rPr>
              <a:t>30 минут на разбор раз в неделю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11535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3600" b="1">
                <a:solidFill>
                  <a:srgbClr val="3B0764"/>
                </a:solidFill>
                <a:latin typeface="Arial"/>
              </a:rPr>
              <a:t>Таймер и заметки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645920"/>
            <a:ext cx="5272887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54136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7C3AED"/>
                </a:solidFill>
                <a:latin typeface="Arial"/>
              </a:rPr>
              <a:t>Таймер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743200"/>
            <a:ext cx="4541367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«Старт» вверху справа: на задаче или просто на «звонки».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Идёт, пока вы сами не остановите.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Итоги: день, неделя, месяц, всего.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8727" y="1645920"/>
            <a:ext cx="5272887" cy="4480560"/>
          </a:xfrm>
          <a:prstGeom prst="roundRect">
            <a:avLst>
              <a:gd name="adj" fmla="val 3673"/>
            </a:avLst>
          </a:prstGeom>
          <a:solidFill>
            <a:srgbClr val="F5F3FF"/>
          </a:solidFill>
          <a:ln w="9525">
            <a:solidFill>
              <a:srgbClr val="DDD6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44487" y="1828800"/>
            <a:ext cx="454136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>
                <a:solidFill>
                  <a:srgbClr val="7C3AED"/>
                </a:solidFill>
                <a:latin typeface="Arial"/>
              </a:rPr>
              <a:t>Заметки и ссылки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44487" y="2743200"/>
            <a:ext cx="4541367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77800" indent="-177800">
              <a:lnSpc>
                <a:spcPct val="118000"/>
              </a:lnSpc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Личный блокнот: видите только вы.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Сохраняется само.</a:t>
            </a:r>
          </a:p>
          <a:p>
            <a:pPr algn="l" marL="177800" indent="-177800">
              <a:lnSpc>
                <a:spcPct val="118000"/>
              </a:lnSpc>
              <a:spcBef>
                <a:spcPts val="1008"/>
              </a:spcBef>
              <a:buChar char="•"/>
            </a:pPr>
            <a:r>
              <a:rPr sz="1800" b="0">
                <a:solidFill>
                  <a:srgbClr val="1F1B2E"/>
                </a:solidFill>
                <a:latin typeface="Arial"/>
              </a:rPr>
              <a:t>Ссылки открываются одной кнопкой.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B07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2926080"/>
            <a:ext cx="6766560" cy="67665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228600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8000"/>
              </a:lnSpc>
            </a:pPr>
            <a:r>
              <a:rPr sz="4800" b="1">
                <a:solidFill>
                  <a:srgbClr val="FFFFFF"/>
                </a:solidFill>
                <a:latin typeface="Arial"/>
              </a:rPr>
              <a:t>Начните со «Старта»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49039"/>
            <a:ext cx="749807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000" b="0">
                <a:solidFill>
                  <a:srgbClr val="C4B5FD"/>
                </a:solidFill>
                <a:latin typeface="Arial"/>
              </a:rPr>
              <a:t>Шаги в приложении отмечаются сами, по мере вашей работы. Нужна подсказка? В «Базе знаний» те же статьи с поиском.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MeetOwl</dc:title>
  <dc:subject/>
  <dc:creator>MeetOwl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