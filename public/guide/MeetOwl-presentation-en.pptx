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the first login to a rhythm: the list, the funnel, the plan of the day, the team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07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680960" y="-2011680"/>
            <a:ext cx="6858000" cy="68580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645920" y="4754880"/>
            <a:ext cx="3840480" cy="3840480"/>
          </a:xfrm>
          <a:prstGeom prst="ellipse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371600" cy="1371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2743200"/>
            <a:ext cx="868680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6600" b="1">
                <a:solidFill>
                  <a:srgbClr val="FFFFFF"/>
                </a:solidFill>
                <a:latin typeface="Arial"/>
              </a:rPr>
              <a:t>MeetOwl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8229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0">
                <a:solidFill>
                  <a:srgbClr val="FFFFFF"/>
                </a:solidFill>
                <a:latin typeface="Arial"/>
              </a:rPr>
              <a:t>How to work with people every 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29200"/>
            <a:ext cx="7772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C4B5FD"/>
                </a:solidFill>
                <a:latin typeface="Arial"/>
              </a:rPr>
              <a:t>From the first login to a rhythm: the list, the funnel, the plan of the day, the team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>
                <a:solidFill>
                  <a:srgbClr val="3B0764"/>
                </a:solidFill>
                <a:latin typeface="Arial"/>
              </a:rPr>
              <a:t>The whole way on one page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737360"/>
            <a:ext cx="2423160" cy="2926080"/>
          </a:xfrm>
          <a:prstGeom prst="roundRect">
            <a:avLst>
              <a:gd name="adj" fmla="val 6792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" y="1965960"/>
            <a:ext cx="502920" cy="5029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6596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187451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>
                <a:solidFill>
                  <a:srgbClr val="3B0764"/>
                </a:solidFill>
                <a:latin typeface="Arial"/>
              </a:rPr>
              <a:t>The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91840"/>
            <a:ext cx="187451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Write down everyone you know. The goal is 100 names.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39" y="2926080"/>
            <a:ext cx="411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600" b="1">
                <a:solidFill>
                  <a:srgbClr val="7C3AED"/>
                </a:solidFill>
                <a:latin typeface="Arial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737360"/>
            <a:ext cx="2423160" cy="2926080"/>
          </a:xfrm>
          <a:prstGeom prst="roundRect">
            <a:avLst>
              <a:gd name="adj" fmla="val 6792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749039" y="1965960"/>
            <a:ext cx="502920" cy="5029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39" y="196596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651760"/>
            <a:ext cx="187451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>
                <a:solidFill>
                  <a:srgbClr val="3B0764"/>
                </a:solidFill>
                <a:latin typeface="Arial"/>
              </a:rPr>
              <a:t>The funnel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3291840"/>
            <a:ext cx="187451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Move people from a new lead to a client or a partner.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79" y="2926080"/>
            <a:ext cx="411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600" b="1">
                <a:solidFill>
                  <a:srgbClr val="7C3AED"/>
                </a:solidFill>
                <a:latin typeface="Arial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737360"/>
            <a:ext cx="2423160" cy="2926080"/>
          </a:xfrm>
          <a:prstGeom prst="roundRect">
            <a:avLst>
              <a:gd name="adj" fmla="val 6792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83680" y="1965960"/>
            <a:ext cx="502920" cy="5029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196596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651760"/>
            <a:ext cx="187451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50" b="1">
                <a:solidFill>
                  <a:srgbClr val="3B0764"/>
                </a:solidFill>
                <a:latin typeface="Arial"/>
              </a:rPr>
              <a:t>Plan of the day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291840"/>
            <a:ext cx="187451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Every morning: who to do what for today.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2926080"/>
            <a:ext cx="411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600" b="1">
                <a:solidFill>
                  <a:srgbClr val="7C3AED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1737360"/>
            <a:ext cx="2423160" cy="2926080"/>
          </a:xfrm>
          <a:prstGeom prst="roundRect">
            <a:avLst>
              <a:gd name="adj" fmla="val 6792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18320" y="1965960"/>
            <a:ext cx="502920" cy="5029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0" y="196596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2651760"/>
            <a:ext cx="187451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>
                <a:solidFill>
                  <a:srgbClr val="3B0764"/>
                </a:solidFill>
                <a:latin typeface="Arial"/>
              </a:rPr>
              <a:t>The team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3291840"/>
            <a:ext cx="187451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Partners, sponsors, handing people over and the network map.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120640"/>
            <a:ext cx="10911535" cy="914400"/>
          </a:xfrm>
          <a:prstGeom prst="roundRect">
            <a:avLst>
              <a:gd name="adj" fmla="val 18000"/>
            </a:avLst>
          </a:prstGeom>
          <a:solidFill>
            <a:srgbClr val="3B07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5120640"/>
            <a:ext cx="1018001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Results come not from a heroic day but from a repeating rhythm.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>
                <a:solidFill>
                  <a:srgbClr val="3B0764"/>
                </a:solidFill>
                <a:latin typeface="Arial"/>
              </a:rPr>
              <a:t>The first 10 minutes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45920"/>
            <a:ext cx="3429000" cy="1965960"/>
          </a:xfrm>
          <a:prstGeom prst="roundRect">
            <a:avLst>
              <a:gd name="adj" fmla="val 8372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2" y="1901952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90195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90195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>
                <a:solidFill>
                  <a:srgbClr val="3B0764"/>
                </a:solidFill>
                <a:latin typeface="Arial"/>
              </a:rPr>
              <a:t>Clock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560320"/>
            <a:ext cx="291693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Set your time zone in Settings.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1645920"/>
            <a:ext cx="3429000" cy="1965960"/>
          </a:xfrm>
          <a:prstGeom prst="roundRect">
            <a:avLst>
              <a:gd name="adj" fmla="val 8372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26864" y="1901952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26864" y="190195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9512" y="190195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>
                <a:solidFill>
                  <a:srgbClr val="3B0764"/>
                </a:solidFill>
                <a:latin typeface="Arial"/>
              </a:rPr>
              <a:t>Dream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2560320"/>
            <a:ext cx="291693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Write your dream, a date and the targets for clients and partners.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1583" y="1645920"/>
            <a:ext cx="3429000" cy="1965960"/>
          </a:xfrm>
          <a:prstGeom prst="roundRect">
            <a:avLst>
              <a:gd name="adj" fmla="val 8372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57615" y="1901952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7615" y="190195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0263" y="190195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>
                <a:solidFill>
                  <a:srgbClr val="3B0764"/>
                </a:solidFill>
                <a:latin typeface="Arial"/>
              </a:rPr>
              <a:t>People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7615" y="2560320"/>
            <a:ext cx="291693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Paste names as a list: “Add a list”.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931920"/>
            <a:ext cx="3429000" cy="1965960"/>
          </a:xfrm>
          <a:prstGeom prst="roundRect">
            <a:avLst>
              <a:gd name="adj" fmla="val 8372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6112" y="4187952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418795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18795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>
                <a:solidFill>
                  <a:srgbClr val="3B0764"/>
                </a:solidFill>
                <a:latin typeface="Arial"/>
              </a:rPr>
              <a:t>Steps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4846320"/>
            <a:ext cx="291693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Give everyone a next step and a date.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70832" y="3931920"/>
            <a:ext cx="3429000" cy="1965960"/>
          </a:xfrm>
          <a:prstGeom prst="roundRect">
            <a:avLst>
              <a:gd name="adj" fmla="val 8372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626864" y="4187952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26864" y="418795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39512" y="418795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>
                <a:solidFill>
                  <a:srgbClr val="3B0764"/>
                </a:solidFill>
                <a:latin typeface="Arial"/>
              </a:rPr>
              <a:t>Script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4846320"/>
            <a:ext cx="291693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Save the text you send most often.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01583" y="3931920"/>
            <a:ext cx="3429000" cy="1965960"/>
          </a:xfrm>
          <a:prstGeom prst="roundRect">
            <a:avLst>
              <a:gd name="adj" fmla="val 8372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357615" y="4187952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57615" y="418795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70263" y="418795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>
                <a:solidFill>
                  <a:srgbClr val="3B0764"/>
                </a:solidFill>
                <a:latin typeface="Arial"/>
              </a:rPr>
              <a:t>Plan of the day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57615" y="4846320"/>
            <a:ext cx="291693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Work down “To do today”.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>
                <a:solidFill>
                  <a:srgbClr val="3B0764"/>
                </a:solidFill>
                <a:latin typeface="Arial"/>
              </a:rPr>
              <a:t>How the app is laid out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00200"/>
            <a:ext cx="3566160" cy="3154680"/>
          </a:xfrm>
          <a:prstGeom prst="roundRect">
            <a:avLst>
              <a:gd name="adj" fmla="val 5217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7C3AED"/>
                </a:solidFill>
                <a:latin typeface="Arial"/>
              </a:rPr>
              <a:t>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194560"/>
            <a:ext cx="310896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My day</a:t>
            </a:r>
          </a:p>
          <a:p>
            <a:pPr algn="l">
              <a:lnSpc>
                <a:spcPct val="118000"/>
              </a:lnSpc>
              <a:spcBef>
                <a:spcPts val="288"/>
              </a:spcBef>
            </a:pPr>
            <a:r>
              <a:rPr sz="1800" b="0">
                <a:solidFill>
                  <a:srgbClr val="1F1B2E"/>
                </a:solidFill>
                <a:latin typeface="Arial"/>
              </a:rPr>
              <a:t>Start</a:t>
            </a:r>
          </a:p>
          <a:p>
            <a:pPr algn="l">
              <a:lnSpc>
                <a:spcPct val="118000"/>
              </a:lnSpc>
              <a:spcBef>
                <a:spcPts val="288"/>
              </a:spcBef>
            </a:pPr>
            <a:r>
              <a:rPr sz="1800" b="0">
                <a:solidFill>
                  <a:srgbClr val="1F1B2E"/>
                </a:solidFill>
                <a:latin typeface="Arial"/>
              </a:rPr>
              <a:t>My tasks</a:t>
            </a:r>
          </a:p>
          <a:p>
            <a:pPr algn="l">
              <a:lnSpc>
                <a:spcPct val="118000"/>
              </a:lnSpc>
              <a:spcBef>
                <a:spcPts val="288"/>
              </a:spcBef>
            </a:pPr>
            <a:r>
              <a:rPr sz="1800" b="0">
                <a:solidFill>
                  <a:srgbClr val="1F1B2E"/>
                </a:solidFill>
                <a:latin typeface="Arial"/>
              </a:rPr>
              <a:t>Projects</a:t>
            </a:r>
          </a:p>
          <a:p>
            <a:pPr algn="l">
              <a:lnSpc>
                <a:spcPct val="118000"/>
              </a:lnSpc>
              <a:spcBef>
                <a:spcPts val="288"/>
              </a:spcBef>
            </a:pPr>
            <a:r>
              <a:rPr sz="1800" b="0">
                <a:solidFill>
                  <a:srgbClr val="1F1B2E"/>
                </a:solidFill>
                <a:latin typeface="Arial"/>
              </a:rPr>
              <a:t>Calendar</a:t>
            </a:r>
          </a:p>
          <a:p>
            <a:pPr algn="l">
              <a:lnSpc>
                <a:spcPct val="118000"/>
              </a:lnSpc>
              <a:spcBef>
                <a:spcPts val="288"/>
              </a:spcBef>
            </a:pPr>
            <a:r>
              <a:rPr sz="1800" b="0">
                <a:solidFill>
                  <a:srgbClr val="1F1B2E"/>
                </a:solidFill>
                <a:latin typeface="Arial"/>
              </a:rPr>
              <a:t>Time</a:t>
            </a:r>
          </a:p>
          <a:p>
            <a:pPr algn="l">
              <a:lnSpc>
                <a:spcPct val="118000"/>
              </a:lnSpc>
              <a:spcBef>
                <a:spcPts val="288"/>
              </a:spcBef>
            </a:pPr>
            <a:r>
              <a:rPr sz="1800" b="0">
                <a:solidFill>
                  <a:srgbClr val="1F1B2E"/>
                </a:solidFill>
                <a:latin typeface="Arial"/>
              </a:rPr>
              <a:t>Notes and links</a:t>
            </a:r>
          </a:p>
          <a:p>
            <a:pPr algn="l">
              <a:lnSpc>
                <a:spcPct val="118000"/>
              </a:lnSpc>
              <a:spcBef>
                <a:spcPts val="288"/>
              </a:spcBef>
            </a:pPr>
            <a:r>
              <a:rPr sz="1800" b="0">
                <a:solidFill>
                  <a:srgbClr val="1F1B2E"/>
                </a:solidFill>
                <a:latin typeface="Arial"/>
              </a:rPr>
              <a:t>Knowledge base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1600200"/>
            <a:ext cx="4572000" cy="3154680"/>
          </a:xfrm>
          <a:prstGeom prst="roundRect">
            <a:avLst>
              <a:gd name="adj" fmla="val 5217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09160" y="169164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7C3AED"/>
                </a:solidFill>
                <a:latin typeface="Arial"/>
              </a:rPr>
              <a:t>Customers: CRM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09160" y="2194560"/>
            <a:ext cx="411480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Plan of the day</a:t>
            </a:r>
          </a:p>
          <a:p>
            <a:pPr algn="l">
              <a:lnSpc>
                <a:spcPct val="118000"/>
              </a:lnSpc>
              <a:spcBef>
                <a:spcPts val="288"/>
              </a:spcBef>
            </a:pPr>
            <a:r>
              <a:rPr sz="1800" b="0">
                <a:solidFill>
                  <a:srgbClr val="1F1B2E"/>
                </a:solidFill>
                <a:latin typeface="Arial"/>
              </a:rPr>
              <a:t>People</a:t>
            </a:r>
          </a:p>
          <a:p>
            <a:pPr algn="l">
              <a:lnSpc>
                <a:spcPct val="118000"/>
              </a:lnSpc>
              <a:spcBef>
                <a:spcPts val="288"/>
              </a:spcBef>
            </a:pPr>
            <a:r>
              <a:rPr sz="1800" b="0">
                <a:solidFill>
                  <a:srgbClr val="1F1B2E"/>
                </a:solidFill>
                <a:latin typeface="Arial"/>
              </a:rPr>
              <a:t>Team</a:t>
            </a:r>
          </a:p>
          <a:p>
            <a:pPr algn="l">
              <a:lnSpc>
                <a:spcPct val="118000"/>
              </a:lnSpc>
              <a:spcBef>
                <a:spcPts val="288"/>
              </a:spcBef>
            </a:pPr>
            <a:r>
              <a:rPr sz="1800" b="0">
                <a:solidFill>
                  <a:srgbClr val="1F1B2E"/>
                </a:solidFill>
                <a:latin typeface="Arial"/>
              </a:rPr>
              <a:t>Team activity</a:t>
            </a:r>
          </a:p>
          <a:p>
            <a:pPr algn="l">
              <a:lnSpc>
                <a:spcPct val="118000"/>
              </a:lnSpc>
              <a:spcBef>
                <a:spcPts val="288"/>
              </a:spcBef>
            </a:pPr>
            <a:r>
              <a:rPr sz="1800" b="0">
                <a:solidFill>
                  <a:srgbClr val="1F1B2E"/>
                </a:solidFill>
                <a:latin typeface="Arial"/>
              </a:rPr>
              <a:t>Network map</a:t>
            </a:r>
          </a:p>
          <a:p>
            <a:pPr algn="l">
              <a:lnSpc>
                <a:spcPct val="118000"/>
              </a:lnSpc>
              <a:spcBef>
                <a:spcPts val="288"/>
              </a:spcBef>
            </a:pPr>
            <a:r>
              <a:rPr sz="1800" b="0">
                <a:solidFill>
                  <a:srgbClr val="1F1B2E"/>
                </a:solidFill>
                <a:latin typeface="Arial"/>
              </a:rPr>
              <a:t>Pipeline</a:t>
            </a:r>
          </a:p>
          <a:p>
            <a:pPr algn="l">
              <a:lnSpc>
                <a:spcPct val="118000"/>
              </a:lnSpc>
              <a:spcBef>
                <a:spcPts val="288"/>
              </a:spcBef>
            </a:pPr>
            <a:r>
              <a:rPr sz="1800" b="0">
                <a:solidFill>
                  <a:srgbClr val="1F1B2E"/>
                </a:solidFill>
                <a:latin typeface="Arial"/>
              </a:rPr>
              <a:t>Companies, contacts, activities</a:t>
            </a:r>
          </a:p>
          <a:p>
            <a:pPr algn="l">
              <a:lnSpc>
                <a:spcPct val="118000"/>
              </a:lnSpc>
              <a:spcBef>
                <a:spcPts val="288"/>
              </a:spcBef>
            </a:pPr>
            <a:r>
              <a:rPr sz="1800" b="0">
                <a:solidFill>
                  <a:srgbClr val="1F1B2E"/>
                </a:solidFill>
                <a:latin typeface="Arial"/>
              </a:rPr>
              <a:t>Scripts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1600200"/>
            <a:ext cx="2130552" cy="3154680"/>
          </a:xfrm>
          <a:prstGeom prst="roundRect">
            <a:avLst>
              <a:gd name="adj" fmla="val 7725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55480" y="1691640"/>
            <a:ext cx="167335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7C3AED"/>
                </a:solidFill>
                <a:latin typeface="Arial"/>
              </a:rPr>
              <a:t>Insights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55480" y="2194560"/>
            <a:ext cx="1673352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Reports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983480"/>
            <a:ext cx="10911535" cy="1280160"/>
          </a:xfrm>
          <a:prstGeom prst="roundRect">
            <a:avLst>
              <a:gd name="adj" fmla="val 12857"/>
            </a:avLst>
          </a:prstGeom>
          <a:solidFill>
            <a:srgbClr val="3B07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983480"/>
            <a:ext cx="10180015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177800" indent="-177800">
              <a:lnSpc>
                <a:spcPct val="118000"/>
              </a:lnSpc>
              <a:buChar char="•"/>
            </a:pPr>
            <a:r>
              <a:rPr sz="1800" b="0">
                <a:solidFill>
                  <a:srgbClr val="FFFFFF"/>
                </a:solidFill>
                <a:latin typeface="Arial"/>
              </a:rPr>
              <a:t>Ctrl+K: search and quick jump</a:t>
            </a:r>
          </a:p>
          <a:p>
            <a:pPr algn="l" marL="177800" indent="-177800">
              <a:lnSpc>
                <a:spcPct val="118000"/>
              </a:lnSpc>
              <a:spcBef>
                <a:spcPts val="432"/>
              </a:spcBef>
              <a:buChar char="•"/>
            </a:pPr>
            <a:r>
              <a:rPr sz="1800" b="0">
                <a:solidFill>
                  <a:srgbClr val="FFFFFF"/>
                </a:solidFill>
                <a:latin typeface="Arial"/>
              </a:rPr>
              <a:t>“Start” at the top right: the timer on any page</a:t>
            </a:r>
          </a:p>
          <a:p>
            <a:pPr algn="l" marL="177800" indent="-177800">
              <a:lnSpc>
                <a:spcPct val="118000"/>
              </a:lnSpc>
              <a:spcBef>
                <a:spcPts val="432"/>
              </a:spcBef>
              <a:buChar char="•"/>
            </a:pPr>
            <a:r>
              <a:rPr sz="1800" b="0">
                <a:solidFill>
                  <a:srgbClr val="FFFFFF"/>
                </a:solidFill>
                <a:latin typeface="Arial"/>
              </a:rPr>
              <a:t>The bell: notifications; sign in by the link in the mail; Account at the bottom left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>
                <a:solidFill>
                  <a:srgbClr val="3B0764"/>
                </a:solidFill>
                <a:latin typeface="Arial"/>
              </a:rPr>
              <a:t>My day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45920"/>
            <a:ext cx="3454298" cy="1371600"/>
          </a:xfrm>
          <a:prstGeom prst="roundRect">
            <a:avLst>
              <a:gd name="adj" fmla="val 12000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290565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>
                <a:solidFill>
                  <a:srgbClr val="7C3AED"/>
                </a:solidFill>
                <a:latin typeface="Arial"/>
              </a:rPr>
              <a:t>Tasks to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290565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F1B2E"/>
                </a:solidFill>
                <a:latin typeface="Arial"/>
              </a:rPr>
              <a:t>tasks, CRM items and people with a step today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68698" y="1645920"/>
            <a:ext cx="3454298" cy="1371600"/>
          </a:xfrm>
          <a:prstGeom prst="roundRect">
            <a:avLst>
              <a:gd name="adj" fmla="val 12000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43018" y="1737360"/>
            <a:ext cx="290565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>
                <a:solidFill>
                  <a:srgbClr val="7C3AED"/>
                </a:solidFill>
                <a:latin typeface="Arial"/>
              </a:rPr>
              <a:t>Meetings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43018" y="2286000"/>
            <a:ext cx="290565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F1B2E"/>
                </a:solidFill>
                <a:latin typeface="Arial"/>
              </a:rPr>
              <a:t>events and calls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7316" y="1645920"/>
            <a:ext cx="3454298" cy="1371600"/>
          </a:xfrm>
          <a:prstGeom prst="roundRect">
            <a:avLst>
              <a:gd name="adj" fmla="val 12000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71636" y="1737360"/>
            <a:ext cx="290565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>
                <a:solidFill>
                  <a:srgbClr val="7C3AED"/>
                </a:solidFill>
                <a:latin typeface="Arial"/>
              </a:rPr>
              <a:t>Need attention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71636" y="2286000"/>
            <a:ext cx="290565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F1B2E"/>
                </a:solidFill>
                <a:latin typeface="Arial"/>
              </a:rPr>
              <a:t>stuck deals, long without contact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291840"/>
            <a:ext cx="5272887" cy="2926080"/>
          </a:xfrm>
          <a:prstGeom prst="roundRect">
            <a:avLst>
              <a:gd name="adj" fmla="val 5624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19" y="3383280"/>
            <a:ext cx="463280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>
                <a:solidFill>
                  <a:srgbClr val="3B0764"/>
                </a:solidFill>
                <a:latin typeface="Arial"/>
              </a:rPr>
              <a:t>Contacts for 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19" y="4023360"/>
            <a:ext cx="4632807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77800" indent="-177800">
              <a:lnSpc>
                <a:spcPct val="118000"/>
              </a:lnSpc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People whose step is due today or late.</a:t>
            </a:r>
          </a:p>
          <a:p>
            <a:pPr algn="l" marL="177800" indent="-177800">
              <a:lnSpc>
                <a:spcPct val="118000"/>
              </a:lnSpc>
              <a:spcBef>
                <a:spcPts val="720"/>
              </a:spcBef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The red number: the late ones.</a:t>
            </a:r>
          </a:p>
          <a:p>
            <a:pPr algn="l" marL="177800" indent="-177800">
              <a:lnSpc>
                <a:spcPct val="118000"/>
              </a:lnSpc>
              <a:spcBef>
                <a:spcPts val="720"/>
              </a:spcBef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A name leads to the card, the tick closes the step.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8727" y="3291840"/>
            <a:ext cx="5272887" cy="2926080"/>
          </a:xfrm>
          <a:prstGeom prst="roundRect">
            <a:avLst>
              <a:gd name="adj" fmla="val 5624"/>
            </a:avLst>
          </a:prstGeom>
          <a:solidFill>
            <a:srgbClr val="3B0764"/>
          </a:solidFill>
          <a:ln w="9525">
            <a:solidFill>
              <a:srgbClr val="3B07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8767" y="3383280"/>
            <a:ext cx="463280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Plan and fact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8767" y="4023360"/>
            <a:ext cx="4632807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77800" indent="-177800">
              <a:lnSpc>
                <a:spcPct val="118000"/>
              </a:lnSpc>
              <a:buChar char="•"/>
            </a:pPr>
            <a:r>
              <a:rPr sz="1800" b="0">
                <a:solidFill>
                  <a:srgbClr val="C4B5FD"/>
                </a:solidFill>
                <a:latin typeface="Arial"/>
              </a:rPr>
              <a:t>Tasks, meetings and calls.</a:t>
            </a:r>
          </a:p>
          <a:p>
            <a:pPr algn="l" marL="177800" indent="-177800">
              <a:lnSpc>
                <a:spcPct val="118000"/>
              </a:lnSpc>
              <a:spcBef>
                <a:spcPts val="720"/>
              </a:spcBef>
              <a:buChar char="•"/>
            </a:pPr>
            <a:r>
              <a:rPr sz="1800" b="0">
                <a:solidFill>
                  <a:srgbClr val="C4B5FD"/>
                </a:solidFill>
                <a:latin typeface="Arial"/>
              </a:rPr>
              <a:t>Contacts and CRM items: calls, e-mails, messages.</a:t>
            </a:r>
          </a:p>
          <a:p>
            <a:pPr algn="l" marL="177800" indent="-177800">
              <a:lnSpc>
                <a:spcPct val="118000"/>
              </a:lnSpc>
              <a:spcBef>
                <a:spcPts val="720"/>
              </a:spcBef>
              <a:buChar char="•"/>
            </a:pPr>
            <a:r>
              <a:rPr sz="1800" b="0">
                <a:solidFill>
                  <a:srgbClr val="C4B5FD"/>
                </a:solidFill>
                <a:latin typeface="Arial"/>
              </a:rPr>
              <a:t>The day's efficiency and productivity.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>
                <a:solidFill>
                  <a:srgbClr val="3B0764"/>
                </a:solidFill>
                <a:latin typeface="Arial"/>
              </a:rPr>
              <a:t>The funnel: nine stages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91640"/>
            <a:ext cx="1627632" cy="1371600"/>
          </a:xfrm>
          <a:prstGeom prst="roundRect">
            <a:avLst>
              <a:gd name="adj" fmla="val 9333"/>
            </a:avLst>
          </a:prstGeom>
          <a:solidFill>
            <a:srgbClr val="C4B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19" y="1691640"/>
            <a:ext cx="1444752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600" b="1">
                <a:solidFill>
                  <a:srgbClr val="3B0764"/>
                </a:solidFill>
                <a:latin typeface="Arial"/>
              </a:rPr>
              <a:t>New lead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50591" y="1691640"/>
            <a:ext cx="1627632" cy="1371600"/>
          </a:xfrm>
          <a:prstGeom prst="roundRect">
            <a:avLst>
              <a:gd name="adj" fmla="val 9333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42032" y="1691640"/>
            <a:ext cx="1444752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600" b="1">
                <a:solidFill>
                  <a:srgbClr val="3B0764"/>
                </a:solidFill>
                <a:latin typeface="Arial"/>
              </a:rPr>
              <a:t>First contact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1104" y="1691640"/>
            <a:ext cx="1627632" cy="1371600"/>
          </a:xfrm>
          <a:prstGeom prst="roundRect">
            <a:avLst>
              <a:gd name="adj" fmla="val 9333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52544" y="1691640"/>
            <a:ext cx="1444752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Warming 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71616" y="1691640"/>
            <a:ext cx="1627632" cy="1371600"/>
          </a:xfrm>
          <a:prstGeom prst="roundRect">
            <a:avLst>
              <a:gd name="adj" fmla="val 9333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63055" y="1691640"/>
            <a:ext cx="1444752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Presentation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82127" y="1691640"/>
            <a:ext cx="1627632" cy="1371600"/>
          </a:xfrm>
          <a:prstGeom prst="roundRect">
            <a:avLst>
              <a:gd name="adj" fmla="val 9333"/>
            </a:avLst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73567" y="1691640"/>
            <a:ext cx="1444752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Deciding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92640" y="1691640"/>
            <a:ext cx="1627632" cy="1371600"/>
          </a:xfrm>
          <a:prstGeom prst="roundRect">
            <a:avLst>
              <a:gd name="adj" fmla="val 9333"/>
            </a:avLst>
          </a:prstGeom>
          <a:solidFill>
            <a:srgbClr val="3B07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0" y="1691640"/>
            <a:ext cx="1444752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Client / Partner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337560"/>
            <a:ext cx="10911535" cy="685800"/>
          </a:xfrm>
          <a:prstGeom prst="roundRect">
            <a:avLst>
              <a:gd name="adj" fmla="val 24000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337560"/>
            <a:ext cx="1036289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6B6580"/>
                </a:solidFill>
                <a:latin typeface="Arial"/>
              </a:rPr>
              <a:t>Declined · No reply  —  A folded column at the side. On a decline the app asks the reason: seven choices, counted in the report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343400"/>
            <a:ext cx="3454298" cy="1783080"/>
          </a:xfrm>
          <a:prstGeom prst="roundRect">
            <a:avLst>
              <a:gd name="adj" fmla="val 9230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8056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7C3AED"/>
                </a:solidFill>
                <a:latin typeface="Arial"/>
              </a:rPr>
              <a:t>Warmth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983480"/>
            <a:ext cx="2997098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Hot, warm, cold.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68698" y="4343400"/>
            <a:ext cx="3454298" cy="1783080"/>
          </a:xfrm>
          <a:prstGeom prst="roundRect">
            <a:avLst>
              <a:gd name="adj" fmla="val 9230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7298" y="448056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7C3AED"/>
                </a:solidFill>
                <a:latin typeface="Arial"/>
              </a:rPr>
              <a:t>Priority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7298" y="4983480"/>
            <a:ext cx="2997098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What matters more to the person: travel or business.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7316" y="4343400"/>
            <a:ext cx="3454298" cy="1783080"/>
          </a:xfrm>
          <a:prstGeom prst="roundRect">
            <a:avLst>
              <a:gd name="adj" fmla="val 9230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5916" y="448056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7C3AED"/>
                </a:solidFill>
                <a:latin typeface="Arial"/>
              </a:rPr>
              <a:t>Next step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5916" y="4983480"/>
            <a:ext cx="2997098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For everyone, with a date: that is how a person reaches the plan of the day.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>
                <a:solidFill>
                  <a:srgbClr val="3B0764"/>
                </a:solidFill>
                <a:latin typeface="Arial"/>
              </a:rPr>
              <a:t>The list of 100</a:t>
            </a:r>
          </a:p>
        </p:txBody>
      </p:sp>
      <p:sp>
        <p:nvSpPr>
          <p:cNvPr id="3" name="Oval 2"/>
          <p:cNvSpPr/>
          <p:nvPr/>
        </p:nvSpPr>
        <p:spPr>
          <a:xfrm>
            <a:off x="640080" y="1645920"/>
            <a:ext cx="3291840" cy="32918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291840" cy="3291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8000" b="1">
                <a:solidFill>
                  <a:srgbClr val="FFFFFF"/>
                </a:solidFill>
                <a:latin typeface="Arial"/>
              </a:rPr>
              <a:t>100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21208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Write down everyone you know, without filtering. Sorting comes later. 25 names are enough to start.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0" y="1645920"/>
            <a:ext cx="5699455" cy="3657600"/>
          </a:xfrm>
          <a:prstGeom prst="roundRect">
            <a:avLst>
              <a:gd name="adj" fmla="val 4500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72200" y="1783080"/>
            <a:ext cx="505937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7C3AED"/>
                </a:solidFill>
                <a:latin typeface="Arial"/>
              </a:rPr>
              <a:t>Paste one per 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514600"/>
            <a:ext cx="5059375" cy="59436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2514600"/>
            <a:ext cx="469361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Anna Kowalska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291840"/>
            <a:ext cx="5059375" cy="59436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3291840"/>
            <a:ext cx="469361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Egor Potapov — met at the conference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4069080"/>
            <a:ext cx="5059375" cy="59436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4069080"/>
            <a:ext cx="469361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Katya; @kate; +48 600 111 222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5486400"/>
            <a:ext cx="56994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6B6580"/>
                </a:solidFill>
                <a:latin typeface="Arial"/>
              </a:rPr>
              <a:t>A name already there is not doubled: the app skips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>
                <a:solidFill>
                  <a:srgbClr val="3B0764"/>
                </a:solidFill>
                <a:latin typeface="Arial"/>
              </a:rPr>
              <a:t>Scripts and auto-plans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45920"/>
            <a:ext cx="5272887" cy="4480560"/>
          </a:xfrm>
          <a:prstGeom prst="roundRect">
            <a:avLst>
              <a:gd name="adj" fmla="val 3673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19" y="1874519"/>
            <a:ext cx="502920" cy="5029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19" y="187451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874519"/>
            <a:ext cx="3992727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>
                <a:solidFill>
                  <a:srgbClr val="3B0764"/>
                </a:solidFill>
                <a:latin typeface="Arial"/>
              </a:rPr>
              <a:t>Scripts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97480"/>
            <a:ext cx="4541367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77800" indent="-177800">
              <a:lnSpc>
                <a:spcPct val="118000"/>
              </a:lnSpc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A ready text for each moment: the first message, an invitation, a follow-up.</a:t>
            </a:r>
          </a:p>
          <a:p>
            <a:pPr algn="l" marL="177800" indent="-177800">
              <a:lnSpc>
                <a:spcPct val="118000"/>
              </a:lnSpc>
              <a:spcBef>
                <a:spcPts val="1008"/>
              </a:spcBef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Names fill in by themselves: {name}, {full_name}, {my_name}.</a:t>
            </a:r>
          </a:p>
          <a:p>
            <a:pPr algn="l" marL="177800" indent="-177800">
              <a:lnSpc>
                <a:spcPct val="118000"/>
              </a:lnSpc>
              <a:spcBef>
                <a:spcPts val="1008"/>
              </a:spcBef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A “Copy” button in the card and in the plan of the day.</a:t>
            </a:r>
          </a:p>
          <a:p>
            <a:pPr algn="l" marL="177800" indent="-177800">
              <a:lnSpc>
                <a:spcPct val="118000"/>
              </a:lnSpc>
              <a:spcBef>
                <a:spcPts val="1008"/>
              </a:spcBef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“Add ready-made scripts”: 18 texts for every stage.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645920"/>
            <a:ext cx="5272887" cy="4480560"/>
          </a:xfrm>
          <a:prstGeom prst="roundRect">
            <a:avLst>
              <a:gd name="adj" fmla="val 3673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598767" y="1874519"/>
            <a:ext cx="502920" cy="5029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8767" y="187451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3B0764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84567" y="1874519"/>
            <a:ext cx="3992727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>
                <a:solidFill>
                  <a:srgbClr val="3B0764"/>
                </a:solidFill>
                <a:latin typeface="Arial"/>
              </a:rPr>
              <a:t>Auto-plans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4487" y="2697480"/>
            <a:ext cx="4541367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77800" indent="-177800">
              <a:lnSpc>
                <a:spcPct val="118000"/>
              </a:lnSpc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For a stage you set once the next step and in how many days.</a:t>
            </a:r>
          </a:p>
          <a:p>
            <a:pPr algn="l" marL="177800" indent="-177800">
              <a:lnSpc>
                <a:spcPct val="118000"/>
              </a:lnSpc>
              <a:spcBef>
                <a:spcPts val="1008"/>
              </a:spcBef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A person moves into the stage and the step and date fill themselves in.</a:t>
            </a:r>
          </a:p>
          <a:p>
            <a:pPr algn="l" marL="177800" indent="-177800">
              <a:lnSpc>
                <a:spcPct val="118000"/>
              </a:lnSpc>
              <a:spcBef>
                <a:spcPts val="1008"/>
              </a:spcBef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Your own step given at the move is not overwritten.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>
                <a:solidFill>
                  <a:srgbClr val="3B0764"/>
                </a:solidFill>
                <a:latin typeface="Arial"/>
              </a:rPr>
              <a:t>Plan of the day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45920"/>
            <a:ext cx="5166360" cy="4480560"/>
          </a:xfrm>
          <a:prstGeom prst="roundRect">
            <a:avLst>
              <a:gd name="adj" fmla="val 3673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19" y="1783080"/>
            <a:ext cx="45262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>
                <a:solidFill>
                  <a:srgbClr val="7C3AED"/>
                </a:solidFill>
                <a:latin typeface="Arial"/>
              </a:rPr>
              <a:t>The week against its targets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19" y="2468880"/>
            <a:ext cx="219456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468880"/>
            <a:ext cx="1975104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1F1B2E"/>
                </a:solidFill>
                <a:latin typeface="Arial"/>
              </a:rPr>
              <a:t>Added to the list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39" y="2468880"/>
            <a:ext cx="219456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01568" y="2468880"/>
            <a:ext cx="1975104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1F1B2E"/>
                </a:solidFill>
                <a:latin typeface="Arial"/>
              </a:rPr>
              <a:t>Reached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19" y="3383280"/>
            <a:ext cx="219456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3383280"/>
            <a:ext cx="1975104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1F1B2E"/>
                </a:solidFill>
                <a:latin typeface="Arial"/>
              </a:rPr>
              <a:t>Presentations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39" y="3383280"/>
            <a:ext cx="219456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01568" y="3383280"/>
            <a:ext cx="1975104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1F1B2E"/>
                </a:solidFill>
                <a:latin typeface="Arial"/>
              </a:rPr>
              <a:t>Clients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19" y="4297680"/>
            <a:ext cx="219456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" y="4297680"/>
            <a:ext cx="1975104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1F1B2E"/>
                </a:solidFill>
                <a:latin typeface="Arial"/>
              </a:rPr>
              <a:t>Partners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91839" y="4297680"/>
            <a:ext cx="219456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01568" y="4297680"/>
            <a:ext cx="1975104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1F1B2E"/>
                </a:solidFill>
                <a:latin typeface="Arial"/>
              </a:rPr>
              <a:t>Calls and meetings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19" y="5303520"/>
            <a:ext cx="4526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6B6580"/>
                </a:solidFill>
                <a:latin typeface="Arial"/>
              </a:rPr>
              <a:t>Counted by themselves, by your clock.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45920"/>
            <a:ext cx="5379415" cy="4480560"/>
          </a:xfrm>
          <a:prstGeom prst="roundRect">
            <a:avLst>
              <a:gd name="adj" fmla="val 3673"/>
            </a:avLst>
          </a:prstGeom>
          <a:solidFill>
            <a:srgbClr val="3B0764"/>
          </a:solidFill>
          <a:ln w="9525">
            <a:solidFill>
              <a:srgbClr val="3B07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83080"/>
            <a:ext cx="473933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To do today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2514600"/>
            <a:ext cx="1828800" cy="594360"/>
          </a:xfrm>
          <a:prstGeom prst="roundRect">
            <a:avLst>
              <a:gd name="adj" fmla="val 18461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514600"/>
            <a:ext cx="18288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Done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58200" y="2514600"/>
            <a:ext cx="1828800" cy="594360"/>
          </a:xfrm>
          <a:prstGeom prst="roundRect">
            <a:avLst>
              <a:gd name="adj" fmla="val 18461"/>
            </a:avLst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58200" y="2514600"/>
            <a:ext cx="18288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Next in 1 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92240" y="3291840"/>
            <a:ext cx="1097280" cy="594360"/>
          </a:xfrm>
          <a:prstGeom prst="roundRect">
            <a:avLst>
              <a:gd name="adj" fmla="val 18461"/>
            </a:avLst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40"/>
            <a:ext cx="10972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3 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26680" y="3291840"/>
            <a:ext cx="1097280" cy="594360"/>
          </a:xfrm>
          <a:prstGeom prst="roundRect">
            <a:avLst>
              <a:gd name="adj" fmla="val 18461"/>
            </a:avLst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6680" y="3291840"/>
            <a:ext cx="10972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7 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61120" y="3291840"/>
            <a:ext cx="1097280" cy="594360"/>
          </a:xfrm>
          <a:prstGeom prst="roundRect">
            <a:avLst>
              <a:gd name="adj" fmla="val 18461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0" y="3291840"/>
            <a:ext cx="10972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>
                <a:solidFill>
                  <a:srgbClr val="3B0764"/>
                </a:solidFill>
                <a:latin typeface="Arial"/>
              </a:rPr>
              <a:t>Script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4297680"/>
            <a:ext cx="4739335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C4B5FD"/>
                </a:solidFill>
                <a:latin typeface="Arial"/>
              </a:rPr>
              <a:t>A closed step is written to the person's feed. Need a new date? Press “Next in…”.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>
                <a:solidFill>
                  <a:srgbClr val="3B0764"/>
                </a:solidFill>
                <a:latin typeface="Arial"/>
              </a:rPr>
              <a:t>Groups and subgroups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737360"/>
            <a:ext cx="3566160" cy="822960"/>
          </a:xfrm>
          <a:prstGeom prst="roundRect">
            <a:avLst>
              <a:gd name="adj" fmla="val 15555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73736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Cold market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2788920"/>
            <a:ext cx="3566160" cy="822960"/>
          </a:xfrm>
          <a:prstGeom prst="roundRect">
            <a:avLst>
              <a:gd name="adj" fmla="val 15555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39" y="278892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Gym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20239" y="3840479"/>
            <a:ext cx="3566160" cy="822960"/>
          </a:xfrm>
          <a:prstGeom prst="roundRect">
            <a:avLst>
              <a:gd name="adj" fmla="val 15555"/>
            </a:avLst>
          </a:prstGeom>
          <a:solidFill>
            <a:srgbClr val="C4B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03120" y="3840479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3B0764"/>
                </a:solidFill>
                <a:latin typeface="Arial"/>
              </a:rPr>
              <a:t>Morning class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120640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>
                <a:solidFill>
                  <a:srgbClr val="6B6580"/>
                </a:solidFill>
                <a:latin typeface="Arial"/>
              </a:rPr>
              <a:t>1  ›  2  › 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1645920"/>
            <a:ext cx="5608015" cy="4480560"/>
          </a:xfrm>
          <a:prstGeom prst="roundRect">
            <a:avLst>
              <a:gd name="adj" fmla="val 3673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874519"/>
            <a:ext cx="4876495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77800" indent="-177800">
              <a:lnSpc>
                <a:spcPct val="118000"/>
              </a:lnSpc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Up to three levels deep.</a:t>
            </a:r>
          </a:p>
          <a:p>
            <a:pPr algn="l" marL="177800" indent="-177800">
              <a:lnSpc>
                <a:spcPct val="118000"/>
              </a:lnSpc>
              <a:spcBef>
                <a:spcPts val="1080"/>
              </a:spcBef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A person is in one group.</a:t>
            </a:r>
          </a:p>
          <a:p>
            <a:pPr algn="l" marL="177800" indent="-177800">
              <a:lnSpc>
                <a:spcPct val="118000"/>
              </a:lnSpc>
              <a:spcBef>
                <a:spcPts val="1080"/>
              </a:spcBef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Choosing a group shows its people with its subgroups.</a:t>
            </a:r>
          </a:p>
          <a:p>
            <a:pPr algn="l" marL="177800" indent="-177800">
              <a:lnSpc>
                <a:spcPct val="118000"/>
              </a:lnSpc>
              <a:spcBef>
                <a:spcPts val="1080"/>
              </a:spcBef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Deleting a group deletes nobody.</a:t>
            </a:r>
          </a:p>
          <a:p>
            <a:pPr algn="l" marL="177800" indent="-177800">
              <a:lnSpc>
                <a:spcPct val="118000"/>
              </a:lnSpc>
              <a:spcBef>
                <a:spcPts val="1080"/>
              </a:spcBef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In bulk: tick the cards → “Move to group”.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>
                <a:solidFill>
                  <a:srgbClr val="3B0764"/>
                </a:solidFill>
                <a:latin typeface="Arial"/>
              </a:rPr>
              <a:t>Partners and the team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920239" y="1691640"/>
            <a:ext cx="2011680" cy="731520"/>
          </a:xfrm>
          <a:prstGeom prst="roundRect">
            <a:avLst>
              <a:gd name="adj" fmla="val 17500"/>
            </a:avLst>
          </a:prstGeom>
          <a:solidFill>
            <a:srgbClr val="3B07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920239" y="1691640"/>
            <a:ext cx="20116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You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20239" y="2880360"/>
            <a:ext cx="2011680" cy="731520"/>
          </a:xfrm>
          <a:prstGeom prst="roundRect">
            <a:avLst>
              <a:gd name="adj" fmla="val 175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20239" y="2880360"/>
            <a:ext cx="20116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Partner 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069080"/>
            <a:ext cx="2011680" cy="731520"/>
          </a:xfrm>
          <a:prstGeom prst="roundRect">
            <a:avLst>
              <a:gd name="adj" fmla="val 175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069080"/>
            <a:ext cx="20116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Partner 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4069080"/>
            <a:ext cx="2011680" cy="731520"/>
          </a:xfrm>
          <a:prstGeom prst="roundRect">
            <a:avLst>
              <a:gd name="adj" fmla="val 17500"/>
            </a:avLst>
          </a:prstGeom>
          <a:solidFill>
            <a:srgbClr val="C4B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4069080"/>
            <a:ext cx="20116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600" b="1">
                <a:solidFill>
                  <a:srgbClr val="3B0764"/>
                </a:solidFill>
                <a:latin typeface="Arial"/>
              </a:rPr>
              <a:t>Person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07791" y="2423160"/>
            <a:ext cx="36576" cy="457200"/>
          </a:xfrm>
          <a:prstGeom prst="rect">
            <a:avLst/>
          </a:prstGeom>
          <a:solidFill>
            <a:srgbClr val="DDD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07791" y="3611880"/>
            <a:ext cx="36576" cy="228600"/>
          </a:xfrm>
          <a:prstGeom prst="rect">
            <a:avLst/>
          </a:prstGeom>
          <a:solidFill>
            <a:srgbClr val="DDD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45920" y="3822191"/>
            <a:ext cx="2560320" cy="36576"/>
          </a:xfrm>
          <a:prstGeom prst="rect">
            <a:avLst/>
          </a:prstGeom>
          <a:solidFill>
            <a:srgbClr val="DDD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627632" y="3840480"/>
            <a:ext cx="36576" cy="228600"/>
          </a:xfrm>
          <a:prstGeom prst="rect">
            <a:avLst/>
          </a:prstGeom>
          <a:solidFill>
            <a:srgbClr val="DDD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87952" y="3840480"/>
            <a:ext cx="36576" cy="228600"/>
          </a:xfrm>
          <a:prstGeom prst="rect">
            <a:avLst/>
          </a:prstGeom>
          <a:solidFill>
            <a:srgbClr val="DDD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760720" y="1645920"/>
            <a:ext cx="5790895" cy="205740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80760" y="1783080"/>
            <a:ext cx="5150815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7C3AED"/>
                </a:solidFill>
                <a:latin typeface="Arial"/>
              </a:rPr>
              <a:t>A partner with an account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2377440"/>
            <a:ext cx="5150815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Link the account. The people handed over become theirs and show in their lists.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720" y="3931920"/>
            <a:ext cx="5790895" cy="205740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4069080"/>
            <a:ext cx="5150815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7C3AED"/>
                </a:solidFill>
                <a:latin typeface="Arial"/>
              </a:rPr>
              <a:t>A partner without an account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4663440"/>
            <a:ext cx="5150815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The people stay with you. The “Handoff card” makes a text for a messenger.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257800"/>
            <a:ext cx="4846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6B6580"/>
                </a:solidFill>
                <a:latin typeface="Arial"/>
              </a:rPr>
              <a:t>Every hand-over is kept: who, to whom, when.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>
                <a:solidFill>
                  <a:srgbClr val="3B0764"/>
                </a:solidFill>
                <a:latin typeface="Arial"/>
              </a:rPr>
              <a:t>Team activity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45920"/>
            <a:ext cx="3454298" cy="1371600"/>
          </a:xfrm>
          <a:prstGeom prst="roundRect">
            <a:avLst>
              <a:gd name="adj" fmla="val 12000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" y="1920240"/>
            <a:ext cx="365760" cy="365760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1783080"/>
            <a:ext cx="235701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>
                <a:solidFill>
                  <a:srgbClr val="3B0764"/>
                </a:solidFill>
                <a:latin typeface="Arial"/>
              </a:rPr>
              <a:t>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377440"/>
            <a:ext cx="235701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6B6580"/>
                </a:solidFill>
                <a:latin typeface="Arial"/>
              </a:rPr>
              <a:t>an action in 3 days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8698" y="1645920"/>
            <a:ext cx="3454298" cy="1371600"/>
          </a:xfrm>
          <a:prstGeom prst="roundRect">
            <a:avLst>
              <a:gd name="adj" fmla="val 12000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43018" y="1920240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91658" y="1783080"/>
            <a:ext cx="235701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>
                <a:solidFill>
                  <a:srgbClr val="3B0764"/>
                </a:solidFill>
                <a:latin typeface="Arial"/>
              </a:rPr>
              <a:t>Gone quiet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91658" y="2377440"/>
            <a:ext cx="235701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6B6580"/>
                </a:solidFill>
                <a:latin typeface="Arial"/>
              </a:rPr>
              <a:t>3-6 days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7316" y="1645920"/>
            <a:ext cx="3454298" cy="1371600"/>
          </a:xfrm>
          <a:prstGeom prst="roundRect">
            <a:avLst>
              <a:gd name="adj" fmla="val 12000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371636" y="1920240"/>
            <a:ext cx="365760" cy="36576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20276" y="1783080"/>
            <a:ext cx="235701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>
                <a:solidFill>
                  <a:srgbClr val="3B0764"/>
                </a:solidFill>
                <a:latin typeface="Arial"/>
              </a:rPr>
              <a:t>Long gone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20276" y="2377440"/>
            <a:ext cx="235701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6B6580"/>
                </a:solidFill>
                <a:latin typeface="Arial"/>
              </a:rPr>
              <a:t>7 days or more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291840"/>
            <a:ext cx="1091153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77800" indent="-177800">
              <a:lnSpc>
                <a:spcPct val="118000"/>
              </a:lnSpc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The first line: numbers for 7 or 30 days and the date of the last action.</a:t>
            </a:r>
          </a:p>
          <a:p>
            <a:pPr algn="l" marL="177800" indent="-177800">
              <a:lnSpc>
                <a:spcPct val="118000"/>
              </a:lnSpc>
              <a:spcBef>
                <a:spcPts val="864"/>
              </a:spcBef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People from your link: a summary only after they agree.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846320"/>
            <a:ext cx="10911535" cy="1371600"/>
          </a:xfrm>
          <a:prstGeom prst="roundRect">
            <a:avLst>
              <a:gd name="adj" fmla="val 12000"/>
            </a:avLst>
          </a:prstGeom>
          <a:solidFill>
            <a:srgbClr val="3B07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937760"/>
            <a:ext cx="274320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>
                <a:solidFill>
                  <a:srgbClr val="F59E0B"/>
                </a:solidFill>
                <a:latin typeface="Arial"/>
              </a:rPr>
              <a:t>Consent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4937760"/>
            <a:ext cx="7436815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FFFFFF"/>
                </a:solidFill>
                <a:latin typeface="Arial"/>
              </a:rPr>
              <a:t>Numbers only, no names of clients and no contents. The person ticks it themselves and can take it back at any time.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>
                <a:solidFill>
                  <a:srgbClr val="3B0764"/>
                </a:solidFill>
                <a:latin typeface="Arial"/>
              </a:rPr>
              <a:t>The network 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45920"/>
            <a:ext cx="3454298" cy="2834640"/>
          </a:xfrm>
          <a:prstGeom prst="roundRect">
            <a:avLst>
              <a:gd name="adj" fmla="val 5806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" y="1874519"/>
            <a:ext cx="502920" cy="5029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29056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3B0764"/>
                </a:solidFill>
                <a:latin typeface="Arial"/>
              </a:rPr>
              <a:t>By sponsors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37560"/>
            <a:ext cx="290565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Partners under their sponsors, people under whoever brought them.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8698" y="1645920"/>
            <a:ext cx="3454298" cy="2834640"/>
          </a:xfrm>
          <a:prstGeom prst="roundRect">
            <a:avLst>
              <a:gd name="adj" fmla="val 5806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43018" y="1874519"/>
            <a:ext cx="502920" cy="5029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3018" y="187451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3018" y="2560320"/>
            <a:ext cx="29056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3B0764"/>
                </a:solidFill>
                <a:latin typeface="Arial"/>
              </a:rPr>
              <a:t>By groups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3018" y="3337560"/>
            <a:ext cx="290565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The tree of groups, each with its people.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7316" y="1645920"/>
            <a:ext cx="3454298" cy="2834640"/>
          </a:xfrm>
          <a:prstGeom prst="roundRect">
            <a:avLst>
              <a:gd name="adj" fmla="val 5806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71636" y="1874519"/>
            <a:ext cx="502920" cy="5029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71636" y="187451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71636" y="2560320"/>
            <a:ext cx="29056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3B0764"/>
                </a:solidFill>
                <a:latin typeface="Arial"/>
              </a:rPr>
              <a:t>By who works with whom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1636" y="3337560"/>
            <a:ext cx="290565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Partners side by side, each with the people handed to them.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846320"/>
            <a:ext cx="10911535" cy="1280160"/>
          </a:xfrm>
          <a:prstGeom prst="roundRect">
            <a:avLst>
              <a:gd name="adj" fmla="val 12857"/>
            </a:avLst>
          </a:prstGeom>
          <a:solidFill>
            <a:srgbClr val="3B07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846320"/>
            <a:ext cx="10180015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177800" indent="-177800">
              <a:lnSpc>
                <a:spcPct val="118000"/>
              </a:lnSpc>
              <a:buChar char="•"/>
            </a:pPr>
            <a:r>
              <a:rPr sz="1800" b="0">
                <a:solidFill>
                  <a:srgbClr val="FFFFFF"/>
                </a:solidFill>
                <a:latin typeface="Arial"/>
              </a:rPr>
              <a:t>The colour of a card is the funnel stage. You are in the middle, with no card of your own.</a:t>
            </a:r>
          </a:p>
          <a:p>
            <a:pPr algn="l" marL="177800" indent="-177800">
              <a:lnSpc>
                <a:spcPct val="118000"/>
              </a:lnSpc>
              <a:spcBef>
                <a:spcPts val="720"/>
              </a:spcBef>
              <a:buChar char="•"/>
            </a:pPr>
            <a:r>
              <a:rPr sz="1800" b="0">
                <a:solidFill>
                  <a:srgbClr val="FFFFFF"/>
                </a:solidFill>
                <a:latin typeface="Arial"/>
              </a:rPr>
              <a:t>Filters: hide people without a sponsor, stage, warmth, levels, sides left and right.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>
                <a:solidFill>
                  <a:srgbClr val="3B0764"/>
                </a:solidFill>
                <a:latin typeface="Arial"/>
              </a:rPr>
              <a:t>The dream and the distance to 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45920"/>
            <a:ext cx="5166360" cy="4480560"/>
          </a:xfrm>
          <a:prstGeom prst="roundRect">
            <a:avLst>
              <a:gd name="adj" fmla="val 3673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7830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6B6580"/>
                </a:solidFill>
                <a:latin typeface="Arial"/>
              </a:rPr>
              <a:t>My dream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77440"/>
            <a:ext cx="44805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>
                <a:solidFill>
                  <a:srgbClr val="3B0764"/>
                </a:solidFill>
                <a:latin typeface="Arial"/>
              </a:rPr>
              <a:t>A house by the sea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749039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>
                <a:solidFill>
                  <a:srgbClr val="7C3AED"/>
                </a:solidFill>
                <a:latin typeface="Arial"/>
              </a:rPr>
              <a:t>By 31.12.2027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389120"/>
            <a:ext cx="44805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Needed: 10 clients, 4 partners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57784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6B6580"/>
                </a:solidFill>
                <a:latin typeface="Arial"/>
              </a:rPr>
              <a:t>Example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645920"/>
            <a:ext cx="5379415" cy="4480560"/>
          </a:xfrm>
          <a:prstGeom prst="roundRect">
            <a:avLst>
              <a:gd name="adj" fmla="val 3673"/>
            </a:avLst>
          </a:prstGeom>
          <a:solidFill>
            <a:srgbClr val="3B0764"/>
          </a:solidFill>
          <a:ln w="9525">
            <a:solidFill>
              <a:srgbClr val="3B07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783080"/>
            <a:ext cx="464789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C4B5FD"/>
                </a:solidFill>
                <a:latin typeface="Arial"/>
              </a:rPr>
              <a:t>Distance to the dream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377440"/>
            <a:ext cx="464789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20% of the way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3520440"/>
            <a:ext cx="4647895" cy="320040"/>
          </a:xfrm>
          <a:prstGeom prst="roundRect">
            <a:avLst>
              <a:gd name="adj" fmla="val 48571"/>
            </a:avLst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37960" y="3520440"/>
            <a:ext cx="929579" cy="320040"/>
          </a:xfrm>
          <a:prstGeom prst="roundRect">
            <a:avLst>
              <a:gd name="adj" fmla="val 48571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4160520"/>
            <a:ext cx="4647895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77800" indent="-177800">
              <a:lnSpc>
                <a:spcPct val="118000"/>
              </a:lnSpc>
              <a:buChar char="•"/>
            </a:pPr>
            <a:r>
              <a:rPr sz="1800" b="0">
                <a:solidFill>
                  <a:srgbClr val="FFFFFF"/>
                </a:solidFill>
                <a:latin typeface="Arial"/>
              </a:rPr>
              <a:t>16 clients and 4 partners to go</a:t>
            </a:r>
          </a:p>
          <a:p>
            <a:pPr algn="l" marL="177800" indent="-177800">
              <a:lnSpc>
                <a:spcPct val="118000"/>
              </a:lnSpc>
              <a:spcBef>
                <a:spcPts val="864"/>
              </a:spcBef>
              <a:buChar char="•"/>
            </a:pPr>
            <a:r>
              <a:rPr sz="1800" b="0">
                <a:solidFill>
                  <a:srgbClr val="FFFFFF"/>
                </a:solidFill>
                <a:latin typeface="Arial"/>
              </a:rPr>
              <a:t>430 days ahead</a:t>
            </a:r>
          </a:p>
          <a:p>
            <a:pPr algn="l" marL="177800" indent="-177800">
              <a:lnSpc>
                <a:spcPct val="118000"/>
              </a:lnSpc>
              <a:spcBef>
                <a:spcPts val="864"/>
              </a:spcBef>
              <a:buChar char="•"/>
            </a:pPr>
            <a:r>
              <a:rPr sz="1800" b="0">
                <a:solidFill>
                  <a:srgbClr val="FFFFFF"/>
                </a:solidFill>
                <a:latin typeface="Arial"/>
              </a:rPr>
              <a:t>Pace: 1.7 clients and 0.4 partners a week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>
                <a:solidFill>
                  <a:srgbClr val="3B0764"/>
                </a:solidFill>
                <a:latin typeface="Arial"/>
              </a:rPr>
              <a:t>Invitations and plans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45920"/>
            <a:ext cx="5272887" cy="3017520"/>
          </a:xfrm>
          <a:prstGeom prst="roundRect">
            <a:avLst>
              <a:gd name="adj" fmla="val 5454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19" y="1874519"/>
            <a:ext cx="502920" cy="5029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19" y="187451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828800"/>
            <a:ext cx="3992727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>
                <a:solidFill>
                  <a:srgbClr val="3B0764"/>
                </a:solidFill>
                <a:latin typeface="Arial"/>
              </a:rPr>
              <a:t>A link for clients and partners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4541367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The person leaves contacts and a card appears in your CRM: “New lead”.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645920"/>
            <a:ext cx="5272887" cy="3017520"/>
          </a:xfrm>
          <a:prstGeom prst="roundRect">
            <a:avLst>
              <a:gd name="adj" fmla="val 5454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598767" y="1874519"/>
            <a:ext cx="502920" cy="5029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8767" y="187451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3B0764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84567" y="1828800"/>
            <a:ext cx="3992727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>
                <a:solidFill>
                  <a:srgbClr val="3B0764"/>
                </a:solidFill>
                <a:latin typeface="Arial"/>
              </a:rPr>
              <a:t>A link for those who work in MeetOwl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4487" y="2834640"/>
            <a:ext cx="4541367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The person gets their own workspace and you get a bonus point for each.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937760"/>
            <a:ext cx="10911535" cy="1188720"/>
          </a:xfrm>
          <a:prstGeom prst="roundRect">
            <a:avLst>
              <a:gd name="adj" fmla="val 13846"/>
            </a:avLst>
          </a:prstGeom>
          <a:solidFill>
            <a:srgbClr val="3B07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937760"/>
            <a:ext cx="10180015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Now an open beta: all features are free. Your data stays with you under any plan.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>
                <a:solidFill>
                  <a:srgbClr val="3B0764"/>
                </a:solidFill>
                <a:latin typeface="Arial"/>
              </a:rPr>
              <a:t>The daily rhythm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45920"/>
            <a:ext cx="3454298" cy="3566160"/>
          </a:xfrm>
          <a:prstGeom prst="roundRect">
            <a:avLst>
              <a:gd name="adj" fmla="val 4764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290565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7C3AED"/>
                </a:solidFill>
                <a:latin typeface="Arial"/>
              </a:rPr>
              <a:t>Morning · 10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14600"/>
            <a:ext cx="2905658" cy="2606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77800" indent="-177800">
              <a:lnSpc>
                <a:spcPct val="118000"/>
              </a:lnSpc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Open My day and the Plan of the day.</a:t>
            </a:r>
          </a:p>
          <a:p>
            <a:pPr algn="l" marL="177800" indent="-177800">
              <a:lnSpc>
                <a:spcPct val="118000"/>
              </a:lnSpc>
              <a:spcBef>
                <a:spcPts val="864"/>
              </a:spcBef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The late and the warm first.</a:t>
            </a:r>
          </a:p>
          <a:p>
            <a:pPr algn="l" marL="177800" indent="-177800">
              <a:lnSpc>
                <a:spcPct val="118000"/>
              </a:lnSpc>
              <a:spcBef>
                <a:spcPts val="864"/>
              </a:spcBef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Start the timer.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68698" y="1645920"/>
            <a:ext cx="3454298" cy="3566160"/>
          </a:xfrm>
          <a:prstGeom prst="roundRect">
            <a:avLst>
              <a:gd name="adj" fmla="val 4764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43018" y="1783080"/>
            <a:ext cx="290565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7C3AED"/>
                </a:solidFill>
                <a:latin typeface="Arial"/>
              </a:rPr>
              <a:t>The 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43018" y="2514600"/>
            <a:ext cx="2905658" cy="2606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77800" indent="-177800">
              <a:lnSpc>
                <a:spcPct val="118000"/>
              </a:lnSpc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Go down the list.</a:t>
            </a:r>
          </a:p>
          <a:p>
            <a:pPr algn="l" marL="177800" indent="-177800">
              <a:lnSpc>
                <a:spcPct val="118000"/>
              </a:lnSpc>
              <a:spcBef>
                <a:spcPts val="864"/>
              </a:spcBef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After each: “Done” and a new date.</a:t>
            </a:r>
          </a:p>
          <a:p>
            <a:pPr algn="l" marL="177800" indent="-177800">
              <a:lnSpc>
                <a:spcPct val="118000"/>
              </a:lnSpc>
              <a:spcBef>
                <a:spcPts val="864"/>
              </a:spcBef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Add new acquaintances to the list.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7316" y="1645920"/>
            <a:ext cx="3454298" cy="3566160"/>
          </a:xfrm>
          <a:prstGeom prst="roundRect">
            <a:avLst>
              <a:gd name="adj" fmla="val 4764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71636" y="1783080"/>
            <a:ext cx="290565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7C3AED"/>
                </a:solidFill>
                <a:latin typeface="Arial"/>
              </a:rPr>
              <a:t>Evening · 5 minutes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71636" y="2514600"/>
            <a:ext cx="2905658" cy="2606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77800" indent="-177800">
              <a:lnSpc>
                <a:spcPct val="118000"/>
              </a:lnSpc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Stop the timer.</a:t>
            </a:r>
          </a:p>
          <a:p>
            <a:pPr algn="l" marL="177800" indent="-177800">
              <a:lnSpc>
                <a:spcPct val="118000"/>
              </a:lnSpc>
              <a:spcBef>
                <a:spcPts val="864"/>
              </a:spcBef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Everyone has a next step with a date.</a:t>
            </a:r>
          </a:p>
          <a:p>
            <a:pPr algn="l" marL="177800" indent="-177800">
              <a:lnSpc>
                <a:spcPct val="118000"/>
              </a:lnSpc>
              <a:spcBef>
                <a:spcPts val="864"/>
              </a:spcBef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A note: the day's result and tomorrow's step.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440680"/>
            <a:ext cx="10911535" cy="777240"/>
          </a:xfrm>
          <a:prstGeom prst="roundRect">
            <a:avLst>
              <a:gd name="adj" fmla="val 18823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440680"/>
            <a:ext cx="10180015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>
                <a:solidFill>
                  <a:srgbClr val="3B0764"/>
                </a:solidFill>
                <a:latin typeface="Arial"/>
              </a:rPr>
              <a:t>The rule of the day: three closed steps at least.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>
                <a:solidFill>
                  <a:srgbClr val="3B0764"/>
                </a:solidFill>
                <a:latin typeface="Arial"/>
              </a:rPr>
              <a:t>The weekly rhythm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737360"/>
            <a:ext cx="1999427" cy="3931920"/>
          </a:xfrm>
          <a:prstGeom prst="roundRect">
            <a:avLst>
              <a:gd name="adj" fmla="val 8231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" y="1965960"/>
            <a:ext cx="502920" cy="5029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6596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743200"/>
            <a:ext cx="154222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3B0764"/>
                </a:solidFill>
                <a:latin typeface="Arial"/>
              </a:rPr>
              <a:t>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383280"/>
            <a:ext cx="1542227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The fact against the week's targets.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68107" y="1737360"/>
            <a:ext cx="1999427" cy="3931920"/>
          </a:xfrm>
          <a:prstGeom prst="roundRect">
            <a:avLst>
              <a:gd name="adj" fmla="val 8231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096707" y="1965960"/>
            <a:ext cx="502920" cy="5029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96707" y="196596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6707" y="2743200"/>
            <a:ext cx="154222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3B0764"/>
                </a:solidFill>
                <a:latin typeface="Arial"/>
              </a:rPr>
              <a:t>People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6707" y="3383280"/>
            <a:ext cx="1542227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No reply, declined, topping up the list.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96134" y="1737360"/>
            <a:ext cx="1999427" cy="3931920"/>
          </a:xfrm>
          <a:prstGeom prst="roundRect">
            <a:avLst>
              <a:gd name="adj" fmla="val 8231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324734" y="1965960"/>
            <a:ext cx="502920" cy="5029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24734" y="196596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24734" y="2743200"/>
            <a:ext cx="154222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3B0764"/>
                </a:solidFill>
                <a:latin typeface="Arial"/>
              </a:rPr>
              <a:t>The team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24734" y="3383280"/>
            <a:ext cx="1542227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Who has gone quiet: Team activity. Whom to call.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24161" y="1737360"/>
            <a:ext cx="1999427" cy="3931920"/>
          </a:xfrm>
          <a:prstGeom prst="roundRect">
            <a:avLst>
              <a:gd name="adj" fmla="val 8231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552761" y="1965960"/>
            <a:ext cx="502920" cy="5029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52761" y="196596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52761" y="2743200"/>
            <a:ext cx="154222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3B0764"/>
                </a:solidFill>
                <a:latin typeface="Arial"/>
              </a:rPr>
              <a:t>The dream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52761" y="3383280"/>
            <a:ext cx="1542227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Is the current pace enough?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52188" y="1737360"/>
            <a:ext cx="1999427" cy="3931920"/>
          </a:xfrm>
          <a:prstGeom prst="roundRect">
            <a:avLst>
              <a:gd name="adj" fmla="val 8231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780788" y="1965960"/>
            <a:ext cx="502920" cy="5029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0788" y="196596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0788" y="2743200"/>
            <a:ext cx="154222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3B0764"/>
                </a:solidFill>
                <a:latin typeface="Arial"/>
              </a:rPr>
              <a:t>Targets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0788" y="3383280"/>
            <a:ext cx="1542227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For next week: a little above the current ones.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6B6580"/>
                </a:solidFill>
                <a:latin typeface="Arial"/>
              </a:rPr>
              <a:t>30 minutes for the review, once a week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>
                <a:solidFill>
                  <a:srgbClr val="3B0764"/>
                </a:solidFill>
                <a:latin typeface="Arial"/>
              </a:rPr>
              <a:t>The timer and notes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45920"/>
            <a:ext cx="5272887" cy="4480560"/>
          </a:xfrm>
          <a:prstGeom prst="roundRect">
            <a:avLst>
              <a:gd name="adj" fmla="val 3673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454136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>
                <a:solidFill>
                  <a:srgbClr val="7C3AED"/>
                </a:solidFill>
                <a:latin typeface="Arial"/>
              </a:rPr>
              <a:t>The timer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743200"/>
            <a:ext cx="4541367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77800" indent="-177800">
              <a:lnSpc>
                <a:spcPct val="118000"/>
              </a:lnSpc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“Start” at the top right: on a task or just on “calls”.</a:t>
            </a:r>
          </a:p>
          <a:p>
            <a:pPr algn="l" marL="177800" indent="-177800">
              <a:lnSpc>
                <a:spcPct val="118000"/>
              </a:lnSpc>
              <a:spcBef>
                <a:spcPts val="1008"/>
              </a:spcBef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Runs until you stop it.</a:t>
            </a:r>
          </a:p>
          <a:p>
            <a:pPr algn="l" marL="177800" indent="-177800">
              <a:lnSpc>
                <a:spcPct val="118000"/>
              </a:lnSpc>
              <a:spcBef>
                <a:spcPts val="1008"/>
              </a:spcBef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Totals: day, week, month, all time.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78727" y="1645920"/>
            <a:ext cx="5272887" cy="4480560"/>
          </a:xfrm>
          <a:prstGeom prst="roundRect">
            <a:avLst>
              <a:gd name="adj" fmla="val 3673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44487" y="1828800"/>
            <a:ext cx="454136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>
                <a:solidFill>
                  <a:srgbClr val="7C3AED"/>
                </a:solidFill>
                <a:latin typeface="Arial"/>
              </a:rPr>
              <a:t>Notes and links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4487" y="2743200"/>
            <a:ext cx="4541367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77800" indent="-177800">
              <a:lnSpc>
                <a:spcPct val="118000"/>
              </a:lnSpc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A private notebook: only you can see it.</a:t>
            </a:r>
          </a:p>
          <a:p>
            <a:pPr algn="l" marL="177800" indent="-177800">
              <a:lnSpc>
                <a:spcPct val="118000"/>
              </a:lnSpc>
              <a:spcBef>
                <a:spcPts val="1008"/>
              </a:spcBef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Saves itself.</a:t>
            </a:r>
          </a:p>
          <a:p>
            <a:pPr algn="l" marL="177800" indent="-177800">
              <a:lnSpc>
                <a:spcPct val="118000"/>
              </a:lnSpc>
              <a:spcBef>
                <a:spcPts val="1008"/>
              </a:spcBef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Links open with one button.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>
                <a:solidFill>
                  <a:srgbClr val="3B0764"/>
                </a:solidFill>
                <a:latin typeface="Arial"/>
              </a:rPr>
              <a:t>Timeline and smart sort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45920"/>
            <a:ext cx="5272887" cy="4480560"/>
          </a:xfrm>
          <a:prstGeom prst="roundRect">
            <a:avLst>
              <a:gd name="adj" fmla="val 3673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454136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>
                <a:solidFill>
                  <a:srgbClr val="7C3AED"/>
                </a:solidFill>
                <a:latin typeface="Arial"/>
              </a:rPr>
              <a:t>Timeline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743200"/>
            <a:ext cx="4541367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77800" indent="-177800">
              <a:lnSpc>
                <a:spcPct val="118000"/>
              </a:lnSpc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The axis starts today: no past.</a:t>
            </a:r>
          </a:p>
          <a:p>
            <a:pPr algn="l" marL="177800" indent="-177800">
              <a:lnSpc>
                <a:spcPct val="118000"/>
              </a:lnSpc>
              <a:spcBef>
                <a:spcPts val="1008"/>
              </a:spcBef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What is late stays at the start as a red bar.</a:t>
            </a:r>
          </a:p>
          <a:p>
            <a:pPr algn="l" marL="177800" indent="-177800">
              <a:lnSpc>
                <a:spcPct val="118000"/>
              </a:lnSpc>
              <a:spcBef>
                <a:spcPts val="1008"/>
              </a:spcBef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“Whole period”, “Days”, “Weeks”, “Months” and “−/+”.</a:t>
            </a:r>
          </a:p>
          <a:p>
            <a:pPr algn="l" marL="177800" indent="-177800">
              <a:lnSpc>
                <a:spcPct val="118000"/>
              </a:lnSpc>
              <a:spcBef>
                <a:spcPts val="1008"/>
              </a:spcBef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“Hide finished”: only what is ahead stays.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78727" y="1645920"/>
            <a:ext cx="5272887" cy="4480560"/>
          </a:xfrm>
          <a:prstGeom prst="roundRect">
            <a:avLst>
              <a:gd name="adj" fmla="val 3673"/>
            </a:avLst>
          </a:prstGeom>
          <a:solidFill>
            <a:srgbClr val="3B0764"/>
          </a:solidFill>
          <a:ln w="9525">
            <a:solidFill>
              <a:srgbClr val="3B07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44487" y="1828800"/>
            <a:ext cx="454136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>
                <a:solidFill>
                  <a:srgbClr val="FFFFFF"/>
                </a:solidFill>
                <a:latin typeface="Arial"/>
              </a:rPr>
              <a:t>Smart sort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4487" y="2743200"/>
            <a:ext cx="4541367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77800" indent="-177800">
              <a:lnSpc>
                <a:spcPct val="118000"/>
              </a:lnSpc>
              <a:buChar char="•"/>
            </a:pPr>
            <a:r>
              <a:rPr sz="1800" b="0">
                <a:solidFill>
                  <a:srgbClr val="C4B5FD"/>
                </a:solidFill>
                <a:latin typeface="Arial"/>
              </a:rPr>
              <a:t>Size in story points: 1 SP = 10 minutes.</a:t>
            </a:r>
          </a:p>
          <a:p>
            <a:pPr algn="l" marL="177800" indent="-177800">
              <a:lnSpc>
                <a:spcPct val="118000"/>
              </a:lnSpc>
              <a:spcBef>
                <a:spcPts val="1008"/>
              </a:spcBef>
              <a:buChar char="•"/>
            </a:pPr>
            <a:r>
              <a:rPr sz="1800" b="0">
                <a:solidFill>
                  <a:srgbClr val="C4B5FD"/>
                </a:solidFill>
                <a:latin typeface="Arial"/>
              </a:rPr>
              <a:t>Every assignee has their own queue.</a:t>
            </a:r>
          </a:p>
          <a:p>
            <a:pPr algn="l" marL="177800" indent="-177800">
              <a:lnSpc>
                <a:spcPct val="118000"/>
              </a:lnSpc>
              <a:spcBef>
                <a:spcPts val="1008"/>
              </a:spcBef>
              <a:buChar char="•"/>
            </a:pPr>
            <a:r>
              <a:rPr sz="1800" b="0">
                <a:solidFill>
                  <a:srgbClr val="C4B5FD"/>
                </a:solidFill>
                <a:latin typeface="Arial"/>
              </a:rPr>
              <a:t>Scheduling starts today.</a:t>
            </a:r>
          </a:p>
          <a:p>
            <a:pPr algn="l" marL="177800" indent="-177800">
              <a:lnSpc>
                <a:spcPct val="118000"/>
              </a:lnSpc>
              <a:spcBef>
                <a:spcPts val="1008"/>
              </a:spcBef>
              <a:buChar char="•"/>
            </a:pPr>
            <a:r>
              <a:rPr sz="1800" b="0">
                <a:solidFill>
                  <a:srgbClr val="C4B5FD"/>
                </a:solidFill>
                <a:latin typeface="Arial"/>
              </a:rPr>
              <a:t>“Undo” brings the old dates back.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07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863840" y="2926080"/>
            <a:ext cx="6766560" cy="67665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97280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2286000"/>
            <a:ext cx="868680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4800" b="1">
                <a:solidFill>
                  <a:srgbClr val="FFFFFF"/>
                </a:solidFill>
                <a:latin typeface="Arial"/>
              </a:rPr>
              <a:t>Begin with “Start”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49039"/>
            <a:ext cx="7498079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C4B5FD"/>
                </a:solidFill>
                <a:latin typeface="Arial"/>
              </a:rPr>
              <a:t>The steps in the app tick themselves as you work. Need a hint? The Knowledge base holds the same articles, with search.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MeetOwl</dc:title>
  <dc:subject/>
  <dc:creator>MeetOwl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